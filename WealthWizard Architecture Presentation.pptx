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Relationship Id="rId9" Type="http://schemas.openxmlformats.org/officeDocument/2006/relationships/image" Target="../media/image18.png"/><Relationship Id="rId10" Type="http://schemas.openxmlformats.org/officeDocument/2006/relationships/image" Target="../media/image19.png"/><Relationship Id="rId11" Type="http://schemas.openxmlformats.org/officeDocument/2006/relationships/image" Target="../media/image20.png"/><Relationship Id="rId12" Type="http://schemas.openxmlformats.org/officeDocument/2006/relationships/image" Target="../media/image21.png"/><Relationship Id="rId13" Type="http://schemas.openxmlformats.org/officeDocument/2006/relationships/image" Target="../media/image22.png"/><Relationship Id="rId14" Type="http://schemas.openxmlformats.org/officeDocument/2006/relationships/image" Target="../media/image23.png"/><Relationship Id="rId15" Type="http://schemas.openxmlformats.org/officeDocument/2006/relationships/image" Target="../media/image24.png"/><Relationship Id="rId16" Type="http://schemas.openxmlformats.org/officeDocument/2006/relationships/image" Target="../media/image25.png"/><Relationship Id="rId17" Type="http://schemas.openxmlformats.org/officeDocument/2006/relationships/image" Target="../media/image26.png"/><Relationship Id="rId18" Type="http://schemas.openxmlformats.org/officeDocument/2006/relationships/image" Target="../media/image27.png"/><Relationship Id="rId19" Type="http://schemas.openxmlformats.org/officeDocument/2006/relationships/image" Target="../media/image2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image" Target="../media/image34.png"/><Relationship Id="rId8" Type="http://schemas.openxmlformats.org/officeDocument/2006/relationships/image" Target="../media/image35.png"/><Relationship Id="rId9" Type="http://schemas.openxmlformats.org/officeDocument/2006/relationships/image" Target="../media/image36.png"/><Relationship Id="rId10" Type="http://schemas.openxmlformats.org/officeDocument/2006/relationships/image" Target="../media/image37.png"/><Relationship Id="rId11" Type="http://schemas.openxmlformats.org/officeDocument/2006/relationships/image" Target="../media/image38.png"/><Relationship Id="rId12" Type="http://schemas.openxmlformats.org/officeDocument/2006/relationships/image" Target="../media/image3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7.png"/><Relationship Id="rId7" Type="http://schemas.openxmlformats.org/officeDocument/2006/relationships/image" Target="../media/image43.png"/><Relationship Id="rId8" Type="http://schemas.openxmlformats.org/officeDocument/2006/relationships/image" Target="../media/image6.png"/><Relationship Id="rId9" Type="http://schemas.openxmlformats.org/officeDocument/2006/relationships/image" Target="../media/image4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0.png"/><Relationship Id="rId4" Type="http://schemas.openxmlformats.org/officeDocument/2006/relationships/image" Target="../media/image45.png"/><Relationship Id="rId5" Type="http://schemas.openxmlformats.org/officeDocument/2006/relationships/image" Target="../media/image46.png"/><Relationship Id="rId6" Type="http://schemas.openxmlformats.org/officeDocument/2006/relationships/image" Target="../media/image47.png"/><Relationship Id="rId7" Type="http://schemas.openxmlformats.org/officeDocument/2006/relationships/image" Target="../media/image48.png"/><Relationship Id="rId8" Type="http://schemas.openxmlformats.org/officeDocument/2006/relationships/image" Target="../media/image49.png"/><Relationship Id="rId9" Type="http://schemas.openxmlformats.org/officeDocument/2006/relationships/image" Target="../media/image50.png"/><Relationship Id="rId10" Type="http://schemas.openxmlformats.org/officeDocument/2006/relationships/image" Target="../media/image51.png"/><Relationship Id="rId11" Type="http://schemas.openxmlformats.org/officeDocument/2006/relationships/image" Target="../media/image5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image" Target="../media/image7.png"/><Relationship Id="rId6" Type="http://schemas.openxmlformats.org/officeDocument/2006/relationships/image" Target="../media/image43.png"/><Relationship Id="rId7" Type="http://schemas.openxmlformats.org/officeDocument/2006/relationships/image" Target="../media/image55.png"/><Relationship Id="rId8" Type="http://schemas.openxmlformats.org/officeDocument/2006/relationships/image" Target="../media/image56.png"/><Relationship Id="rId9" Type="http://schemas.openxmlformats.org/officeDocument/2006/relationships/image" Target="../media/image57.png"/><Relationship Id="rId10" Type="http://schemas.openxmlformats.org/officeDocument/2006/relationships/image" Target="../media/image58.png"/><Relationship Id="rId11" Type="http://schemas.openxmlformats.org/officeDocument/2006/relationships/image" Target="../media/image5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60.png"/><Relationship Id="rId4" Type="http://schemas.openxmlformats.org/officeDocument/2006/relationships/image" Target="../media/image61.png"/><Relationship Id="rId5" Type="http://schemas.openxmlformats.org/officeDocument/2006/relationships/image" Target="../media/image62.png"/><Relationship Id="rId6" Type="http://schemas.openxmlformats.org/officeDocument/2006/relationships/image" Target="../media/image63.png"/><Relationship Id="rId7" Type="http://schemas.openxmlformats.org/officeDocument/2006/relationships/image" Target="../media/image64.png"/><Relationship Id="rId8" Type="http://schemas.openxmlformats.org/officeDocument/2006/relationships/image" Target="../media/image65.png"/><Relationship Id="rId9" Type="http://schemas.openxmlformats.org/officeDocument/2006/relationships/image" Target="../media/image66.png"/><Relationship Id="rId10" Type="http://schemas.openxmlformats.org/officeDocument/2006/relationships/image" Target="../media/image6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8.png"/><Relationship Id="rId4" Type="http://schemas.openxmlformats.org/officeDocument/2006/relationships/image" Target="../media/image69.png"/><Relationship Id="rId5" Type="http://schemas.openxmlformats.org/officeDocument/2006/relationships/image" Target="../media/image70.png"/><Relationship Id="rId6" Type="http://schemas.openxmlformats.org/officeDocument/2006/relationships/image" Target="../media/image71.png"/><Relationship Id="rId7" Type="http://schemas.openxmlformats.org/officeDocument/2006/relationships/image" Target="../media/image72.png"/><Relationship Id="rId8" Type="http://schemas.openxmlformats.org/officeDocument/2006/relationships/image" Target="../media/image7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0.png"/><Relationship Id="rId4" Type="http://schemas.openxmlformats.org/officeDocument/2006/relationships/image" Target="../media/image74.png"/><Relationship Id="rId5" Type="http://schemas.openxmlformats.org/officeDocument/2006/relationships/image" Target="../media/image75.png"/><Relationship Id="rId6" Type="http://schemas.openxmlformats.org/officeDocument/2006/relationships/image" Target="../media/image76.png"/><Relationship Id="rId7" Type="http://schemas.openxmlformats.org/officeDocument/2006/relationships/image" Target="../media/image77.png"/><Relationship Id="rId8" Type="http://schemas.openxmlformats.org/officeDocument/2006/relationships/image" Target="../media/image78.png"/><Relationship Id="rId9" Type="http://schemas.openxmlformats.org/officeDocument/2006/relationships/image" Target="../media/image7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0.png"/><Relationship Id="rId4" Type="http://schemas.openxmlformats.org/officeDocument/2006/relationships/image" Target="../media/image81.png"/><Relationship Id="rId5" Type="http://schemas.openxmlformats.org/officeDocument/2006/relationships/image" Target="../media/image82.png"/><Relationship Id="rId6" Type="http://schemas.openxmlformats.org/officeDocument/2006/relationships/image" Target="../media/image83.png"/><Relationship Id="rId7" Type="http://schemas.openxmlformats.org/officeDocument/2006/relationships/image" Target="../media/image84.png"/><Relationship Id="rId8" Type="http://schemas.openxmlformats.org/officeDocument/2006/relationships/image" Target="../media/image85.png"/><Relationship Id="rId9" Type="http://schemas.openxmlformats.org/officeDocument/2006/relationships/image" Target="../media/image86.png"/><Relationship Id="rId10" Type="http://schemas.openxmlformats.org/officeDocument/2006/relationships/image" Target="../media/image87.png"/><Relationship Id="rId11" Type="http://schemas.openxmlformats.org/officeDocument/2006/relationships/image" Target="../media/image88.png"/><Relationship Id="rId12" Type="http://schemas.openxmlformats.org/officeDocument/2006/relationships/image" Target="../media/image89.png"/><Relationship Id="rId13" Type="http://schemas.openxmlformats.org/officeDocument/2006/relationships/image" Target="../media/image90.png"/><Relationship Id="rId14" Type="http://schemas.openxmlformats.org/officeDocument/2006/relationships/image" Target="../media/image91.png"/><Relationship Id="rId15" Type="http://schemas.openxmlformats.org/officeDocument/2006/relationships/image" Target="../media/image9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93.png"/><Relationship Id="rId4" Type="http://schemas.openxmlformats.org/officeDocument/2006/relationships/image" Target="../media/image94.png"/><Relationship Id="rId5" Type="http://schemas.openxmlformats.org/officeDocument/2006/relationships/image" Target="../media/image95.png"/><Relationship Id="rId6" Type="http://schemas.openxmlformats.org/officeDocument/2006/relationships/image" Target="../media/image96.png"/><Relationship Id="rId7" Type="http://schemas.openxmlformats.org/officeDocument/2006/relationships/image" Target="../media/image97.png"/><Relationship Id="rId8" Type="http://schemas.openxmlformats.org/officeDocument/2006/relationships/image" Target="../media/image98.png"/><Relationship Id="rId9" Type="http://schemas.openxmlformats.org/officeDocument/2006/relationships/image" Target="../media/image99.png"/><Relationship Id="rId10" Type="http://schemas.openxmlformats.org/officeDocument/2006/relationships/image" Target="../media/image100.png"/><Relationship Id="rId11" Type="http://schemas.openxmlformats.org/officeDocument/2006/relationships/image" Target="../media/image101.png"/><Relationship Id="rId12" Type="http://schemas.openxmlformats.org/officeDocument/2006/relationships/image" Target="../media/image102.png"/><Relationship Id="rId13" Type="http://schemas.openxmlformats.org/officeDocument/2006/relationships/image" Target="../media/image103.png"/><Relationship Id="rId14" Type="http://schemas.openxmlformats.org/officeDocument/2006/relationships/image" Target="../media/image104.png"/><Relationship Id="rId15" Type="http://schemas.openxmlformats.org/officeDocument/2006/relationships/image" Target="../media/image105.png"/><Relationship Id="rId16" Type="http://schemas.openxmlformats.org/officeDocument/2006/relationships/image" Target="../media/image106.png"/><Relationship Id="rId17" Type="http://schemas.openxmlformats.org/officeDocument/2006/relationships/image" Target="../media/image107.png"/><Relationship Id="rId18" Type="http://schemas.openxmlformats.org/officeDocument/2006/relationships/image" Target="../media/image108.png"/><Relationship Id="rId19" Type="http://schemas.openxmlformats.org/officeDocument/2006/relationships/image" Target="../media/image109.png"/><Relationship Id="rId20" Type="http://schemas.openxmlformats.org/officeDocument/2006/relationships/image" Target="../media/image1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1.png"/><Relationship Id="rId4" Type="http://schemas.openxmlformats.org/officeDocument/2006/relationships/image" Target="../media/image112.png"/><Relationship Id="rId5" Type="http://schemas.openxmlformats.org/officeDocument/2006/relationships/image" Target="../media/image113.png"/><Relationship Id="rId6" Type="http://schemas.openxmlformats.org/officeDocument/2006/relationships/image" Target="../media/image114.png"/><Relationship Id="rId7" Type="http://schemas.openxmlformats.org/officeDocument/2006/relationships/image" Target="../media/image115.png"/><Relationship Id="rId8" Type="http://schemas.openxmlformats.org/officeDocument/2006/relationships/image" Target="../media/image116.png"/><Relationship Id="rId9" Type="http://schemas.openxmlformats.org/officeDocument/2006/relationships/image" Target="../media/image117.png"/><Relationship Id="rId10" Type="http://schemas.openxmlformats.org/officeDocument/2006/relationships/image" Target="../media/image11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0.png"/><Relationship Id="rId4" Type="http://schemas.openxmlformats.org/officeDocument/2006/relationships/image" Target="../media/image119.png"/><Relationship Id="rId5" Type="http://schemas.openxmlformats.org/officeDocument/2006/relationships/image" Target="../media/image120.png"/><Relationship Id="rId6" Type="http://schemas.openxmlformats.org/officeDocument/2006/relationships/image" Target="../media/image12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2.png"/><Relationship Id="rId4" Type="http://schemas.openxmlformats.org/officeDocument/2006/relationships/image" Target="../media/image123.png"/><Relationship Id="rId5" Type="http://schemas.openxmlformats.org/officeDocument/2006/relationships/image" Target="../media/image124.png"/><Relationship Id="rId6" Type="http://schemas.openxmlformats.org/officeDocument/2006/relationships/image" Target="../media/image125.png"/><Relationship Id="rId7" Type="http://schemas.openxmlformats.org/officeDocument/2006/relationships/image" Target="../media/image126.png"/><Relationship Id="rId8" Type="http://schemas.openxmlformats.org/officeDocument/2006/relationships/image" Target="../media/image127.png"/><Relationship Id="rId9" Type="http://schemas.openxmlformats.org/officeDocument/2006/relationships/image" Target="../media/image128.png"/><Relationship Id="rId10" Type="http://schemas.openxmlformats.org/officeDocument/2006/relationships/image" Target="../media/image129.png"/><Relationship Id="rId11" Type="http://schemas.openxmlformats.org/officeDocument/2006/relationships/image" Target="../media/image130.png"/><Relationship Id="rId12" Type="http://schemas.openxmlformats.org/officeDocument/2006/relationships/image" Target="../media/image131.png"/><Relationship Id="rId13" Type="http://schemas.openxmlformats.org/officeDocument/2006/relationships/image" Target="../media/image132.png"/><Relationship Id="rId14" Type="http://schemas.openxmlformats.org/officeDocument/2006/relationships/image" Target="../media/image108.png"/><Relationship Id="rId15" Type="http://schemas.openxmlformats.org/officeDocument/2006/relationships/image" Target="../media/image10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3.png"/><Relationship Id="rId3" Type="http://schemas.openxmlformats.org/officeDocument/2006/relationships/image" Target="../media/image30.png"/><Relationship Id="rId4" Type="http://schemas.openxmlformats.org/officeDocument/2006/relationships/image" Target="../media/image134.png"/><Relationship Id="rId5" Type="http://schemas.openxmlformats.org/officeDocument/2006/relationships/image" Target="../media/image135.png"/><Relationship Id="rId6" Type="http://schemas.openxmlformats.org/officeDocument/2006/relationships/image" Target="../media/image136.png"/><Relationship Id="rId7" Type="http://schemas.openxmlformats.org/officeDocument/2006/relationships/image" Target="../media/image137.png"/><Relationship Id="rId8" Type="http://schemas.openxmlformats.org/officeDocument/2006/relationships/image" Target="../media/image138.png"/><Relationship Id="rId9" Type="http://schemas.openxmlformats.org/officeDocument/2006/relationships/image" Target="../media/image13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40.png"/><Relationship Id="rId4" Type="http://schemas.openxmlformats.org/officeDocument/2006/relationships/image" Target="../media/image141.png"/><Relationship Id="rId5" Type="http://schemas.openxmlformats.org/officeDocument/2006/relationships/image" Target="../media/image142.png"/><Relationship Id="rId6" Type="http://schemas.openxmlformats.org/officeDocument/2006/relationships/image" Target="../media/image143.png"/><Relationship Id="rId7" Type="http://schemas.openxmlformats.org/officeDocument/2006/relationships/image" Target="../media/image144.png"/><Relationship Id="rId8" Type="http://schemas.openxmlformats.org/officeDocument/2006/relationships/image" Target="../media/image145.png"/><Relationship Id="rId9" Type="http://schemas.openxmlformats.org/officeDocument/2006/relationships/image" Target="../media/image146.png"/><Relationship Id="rId10" Type="http://schemas.openxmlformats.org/officeDocument/2006/relationships/image" Target="../media/image14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48.png"/><Relationship Id="rId4" Type="http://schemas.openxmlformats.org/officeDocument/2006/relationships/image" Target="../media/image149.png"/><Relationship Id="rId5" Type="http://schemas.openxmlformats.org/officeDocument/2006/relationships/image" Target="../media/image150.png"/><Relationship Id="rId6" Type="http://schemas.openxmlformats.org/officeDocument/2006/relationships/image" Target="../media/image151.png"/><Relationship Id="rId7" Type="http://schemas.openxmlformats.org/officeDocument/2006/relationships/image" Target="../media/image152.png"/><Relationship Id="rId8" Type="http://schemas.openxmlformats.org/officeDocument/2006/relationships/image" Target="../media/image153.png"/><Relationship Id="rId9" Type="http://schemas.openxmlformats.org/officeDocument/2006/relationships/image" Target="../media/image154.png"/><Relationship Id="rId10" Type="http://schemas.openxmlformats.org/officeDocument/2006/relationships/image" Target="../media/image155.png"/><Relationship Id="rId11" Type="http://schemas.openxmlformats.org/officeDocument/2006/relationships/image" Target="../media/image156.png"/><Relationship Id="rId12" Type="http://schemas.openxmlformats.org/officeDocument/2006/relationships/image" Target="../media/image15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8.png"/><Relationship Id="rId4" Type="http://schemas.openxmlformats.org/officeDocument/2006/relationships/image" Target="../media/image15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6410325"/>
            <a:ext cx="110490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A93B8"/>
                </a:solidFill>
                <a:latin typeface="Lato"/>
              </a:rPr>
              <a:t>Team WealthWizard  ·  Capstone Project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8191500" y="571500"/>
            <a:ext cx="3905250" cy="9525"/>
          </a:xfrm>
          <a:prstGeom prst="rect">
            <a:avLst/>
          </a:prstGeom>
          <a:solidFill>
            <a:srgbClr val="2A2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91500" y="914400"/>
            <a:ext cx="3905250" cy="9525"/>
          </a:xfrm>
          <a:prstGeom prst="rect">
            <a:avLst/>
          </a:prstGeom>
          <a:solidFill>
            <a:srgbClr val="2A2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91500" y="1257300"/>
            <a:ext cx="3905250" cy="9525"/>
          </a:xfrm>
          <a:prstGeom prst="rect">
            <a:avLst/>
          </a:prstGeom>
          <a:solidFill>
            <a:srgbClr val="2A2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91500" y="1600200"/>
            <a:ext cx="3905250" cy="9525"/>
          </a:xfrm>
          <a:prstGeom prst="rect">
            <a:avLst/>
          </a:prstGeom>
          <a:solidFill>
            <a:srgbClr val="2A2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191500" y="1943100"/>
            <a:ext cx="3905250" cy="9525"/>
          </a:xfrm>
          <a:prstGeom prst="rect">
            <a:avLst/>
          </a:prstGeom>
          <a:solidFill>
            <a:srgbClr val="2A2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91500" y="2286000"/>
            <a:ext cx="3905250" cy="9525"/>
          </a:xfrm>
          <a:prstGeom prst="rect">
            <a:avLst/>
          </a:prstGeom>
          <a:solidFill>
            <a:srgbClr val="2A2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91500" y="2628900"/>
            <a:ext cx="3905250" cy="9525"/>
          </a:xfrm>
          <a:prstGeom prst="rect">
            <a:avLst/>
          </a:prstGeom>
          <a:solidFill>
            <a:srgbClr val="2A2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191500" y="2971800"/>
            <a:ext cx="3905250" cy="9525"/>
          </a:xfrm>
          <a:prstGeom prst="rect">
            <a:avLst/>
          </a:prstGeom>
          <a:solidFill>
            <a:srgbClr val="2A2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91500" y="3314700"/>
            <a:ext cx="3905250" cy="9525"/>
          </a:xfrm>
          <a:prstGeom prst="rect">
            <a:avLst/>
          </a:prstGeom>
          <a:solidFill>
            <a:srgbClr val="2A2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666750"/>
            <a:ext cx="571500" cy="5715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85875" y="847725"/>
            <a:ext cx="17526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0BE7A"/>
                </a:solidFill>
                <a:latin typeface="Lato"/>
              </a:rPr>
              <a:t>WEALTHWIZARD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" y="2190750"/>
            <a:ext cx="11601450" cy="838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600"/>
              </a:lnSpc>
            </a:pPr>
            <a:r>
              <a:rPr b="1" sz="6000" i="0" u="none">
                <a:solidFill>
                  <a:srgbClr val="FFFFFF"/>
                </a:solidFill>
                <a:latin typeface="Merriweather"/>
              </a:rPr>
              <a:t>WealthWizard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" y="3219450"/>
            <a:ext cx="116014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100" i="1" u="none">
                <a:solidFill>
                  <a:srgbClr val="F2A03D"/>
                </a:solidFill>
                <a:latin typeface="Merriweather"/>
              </a:rPr>
              <a:t>A Streamlit Console for Snowflake-Native Personal Finance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" y="3705225"/>
            <a:ext cx="1104900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EAE7F5"/>
                </a:solidFill>
                <a:latin typeface="Lato"/>
              </a:rPr>
              <a:t>Cloud Data Pipeline  ·  Gemini-Powered Insights  ·  One Streamlit App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1500" y="4343400"/>
            <a:ext cx="2095500" cy="28575"/>
          </a:xfrm>
          <a:prstGeom prst="rect">
            <a:avLst/>
          </a:prstGeom>
          <a:solidFill>
            <a:srgbClr val="F2A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" y="819150"/>
            <a:ext cx="304800" cy="2667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71500" y="5133975"/>
            <a:ext cx="1133475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A78BD0"/>
                </a:solidFill>
                <a:latin typeface="Merriweather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1500" y="5629275"/>
            <a:ext cx="113347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A93B8"/>
                </a:solidFill>
                <a:latin typeface="Lato"/>
              </a:rPr>
              <a:t>Snowflake schemas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76475" y="5133975"/>
            <a:ext cx="1362075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35A7C2"/>
                </a:solidFill>
                <a:latin typeface="Merriweather"/>
              </a:rPr>
              <a:t>78K+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76475" y="5629275"/>
            <a:ext cx="136207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A93B8"/>
                </a:solidFill>
                <a:latin typeface="Lato"/>
              </a:rPr>
              <a:t>transactions processed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10050" y="5133975"/>
            <a:ext cx="142875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E8637F"/>
                </a:solidFill>
                <a:latin typeface="Merriweather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10050" y="5629275"/>
            <a:ext cx="14287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A93B8"/>
                </a:solidFill>
                <a:latin typeface="Lato"/>
              </a:rPr>
              <a:t>pages, one Streamlit 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2169616"/>
            <a:ext cx="5286375" cy="411688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571500"/>
            <a:ext cx="110490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B4690E"/>
                </a:solidFill>
                <a:latin typeface="Lato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876300"/>
            <a:ext cx="9001125" cy="9599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b="1" sz="3150" i="0" u="none">
                <a:solidFill>
                  <a:srgbClr val="241F3D"/>
                </a:solidFill>
                <a:latin typeface="Merriweather"/>
              </a:rPr>
              <a:t>Personal finance data is everywhere—and nowhere useful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6410325"/>
            <a:ext cx="110490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A6285"/>
                </a:solidFill>
                <a:latin typeface="Lato"/>
              </a:rPr>
              <a:t>WealthWizard · Project Overview</a:t>
            </a:r>
            <a:r>
              <a:rPr b="0" sz="1050" i="0" u="none">
                <a:solidFill>
                  <a:srgbClr val="6A6285"/>
                </a:solidFill>
                <a:latin typeface="Lato"/>
              </a:rPr>
              <a:t> </a:t>
            </a:r>
            <a:r>
              <a:rPr b="0" sz="1050" i="0" u="none">
                <a:solidFill>
                  <a:srgbClr val="6A6285"/>
                </a:solidFill>
                <a:latin typeface="Lato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15125" y="2701379"/>
            <a:ext cx="452437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2A03D"/>
                </a:solidFill>
                <a:latin typeface="Lato"/>
              </a:rPr>
              <a:t>OUR VISION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15125" y="3006179"/>
            <a:ext cx="4750593" cy="792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b="1" sz="2400" i="0" u="none">
                <a:solidFill>
                  <a:srgbClr val="241F3D"/>
                </a:solidFill>
                <a:latin typeface="Merriweather"/>
              </a:rPr>
              <a:t>One clean pipeline.</a:t>
            </a:r>
            <a:r>
              <a:t>
</a:t>
            </a:r>
            <a:r>
              <a:rPr b="1" sz="2400" i="0" u="none">
                <a:solidFill>
                  <a:srgbClr val="241F3D"/>
                </a:solidFill>
                <a:latin typeface="Merriweather"/>
              </a:rPr>
              <a:t> One trustworthy number.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15125" y="4036665"/>
            <a:ext cx="4524375" cy="9751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EAE7F5"/>
                </a:solidFill>
                <a:latin typeface="Lato"/>
              </a:rPr>
              <a:t>WealthWizard ingests raw transactions from multiple file formats, validates and cleans every record, models it for fast analytics, and surfaces AI-generated insights—through a Streamlit console that answers "how am I doing?" in seconds, not spreadsheets.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15125" y="5392787"/>
            <a:ext cx="4524375" cy="9525"/>
          </a:xfrm>
          <a:prstGeom prst="rect">
            <a:avLst/>
          </a:prstGeom>
          <a:solidFill>
            <a:srgbClr val="2A2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15125" y="5592812"/>
            <a:ext cx="452437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1" u="none">
                <a:solidFill>
                  <a:srgbClr val="F2A03D"/>
                </a:solidFill>
                <a:latin typeface="Lato"/>
              </a:rPr>
              <a:t> Raw file  →  Validated  →  Modeled  →  Insight  →  Decision 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889795"/>
            <a:ext cx="428625" cy="4286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861345"/>
            <a:ext cx="428625" cy="4286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832895"/>
            <a:ext cx="428625" cy="4286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9137" y="3018383"/>
            <a:ext cx="133350" cy="1714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90625" y="2889795"/>
            <a:ext cx="450056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241F3D"/>
                </a:solidFill>
                <a:latin typeface="Lato"/>
              </a:rPr>
              <a:t>Scattered records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90625" y="3166020"/>
            <a:ext cx="42862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6A6285"/>
                </a:solidFill>
                <a:latin typeface="Lato"/>
              </a:rPr>
              <a:t>Transactions live across banks, wallets, and receipts with no single source of truth.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6275" y="3989933"/>
            <a:ext cx="219075" cy="1714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190625" y="3861345"/>
            <a:ext cx="450056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241F3D"/>
                </a:solidFill>
                <a:latin typeface="Lato"/>
              </a:rPr>
              <a:t>No real-time visibility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90625" y="4137570"/>
            <a:ext cx="42862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6A6285"/>
                </a:solidFill>
                <a:latin typeface="Lato"/>
              </a:rPr>
              <a:t>People discover they're over budget after the money is already spent.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0562" y="4961483"/>
            <a:ext cx="190500" cy="1714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190625" y="4832895"/>
            <a:ext cx="450056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241F3D"/>
                </a:solidFill>
                <a:latin typeface="Lato"/>
              </a:rPr>
              <a:t>Manual categorization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90625" y="5109120"/>
            <a:ext cx="42862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6A6285"/>
                </a:solidFill>
                <a:latin typeface="Lato"/>
              </a:rPr>
              <a:t>Sorting expenses by hand is tedious, so it rarely gets done consistently.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70708"/>
            <a:ext cx="1666875" cy="143440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7925" y="2570708"/>
            <a:ext cx="1666875" cy="143440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4350" y="2570708"/>
            <a:ext cx="1666875" cy="143440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0775" y="2570708"/>
            <a:ext cx="1666875" cy="143440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7200" y="2570708"/>
            <a:ext cx="1666875" cy="143440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53625" y="2570708"/>
            <a:ext cx="1666875" cy="143440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571500"/>
            <a:ext cx="110490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2A03D"/>
                </a:solidFill>
                <a:latin typeface="Lato"/>
              </a:rPr>
              <a:t>SYSTEM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876300"/>
            <a:ext cx="11601450" cy="479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b="1" sz="3150" i="0" u="none">
                <a:solidFill>
                  <a:srgbClr val="FFFFFF"/>
                </a:solidFill>
                <a:latin typeface="Merriweather"/>
              </a:rPr>
              <a:t>From raw files to a Streamlit console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6410325"/>
            <a:ext cx="110490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A93B8"/>
                </a:solidFill>
                <a:latin typeface="Lato"/>
              </a:rPr>
              <a:t>WealthWizard · Architecture</a:t>
            </a:r>
            <a:r>
              <a:rPr b="0" sz="1050" i="0" u="none">
                <a:solidFill>
                  <a:srgbClr val="9A93B8"/>
                </a:solidFill>
                <a:latin typeface="Lato"/>
              </a:rPr>
              <a:t> </a:t>
            </a:r>
            <a:r>
              <a:rPr b="0" sz="1050" i="0" u="none">
                <a:solidFill>
                  <a:srgbClr val="9A93B8"/>
                </a:solidFill>
                <a:latin typeface="Lato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5229076"/>
            <a:ext cx="11049000" cy="9525"/>
          </a:xfrm>
          <a:prstGeom prst="rect">
            <a:avLst/>
          </a:prstGeom>
          <a:solidFill>
            <a:srgbClr val="2A2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1500" y="5381476"/>
            <a:ext cx="11049000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1" u="none">
                <a:solidFill>
                  <a:srgbClr val="F2A03D"/>
                </a:solidFill>
                <a:latin typeface="Lato"/>
              </a:rPr>
              <a:t>Governed end-to-end by a single least-privilege role (WEALTHWIZARD_ETL) and orchestrated by Snowflake Streams + Tasks.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71712" y="3173610"/>
            <a:ext cx="142875" cy="2286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48137" y="3173610"/>
            <a:ext cx="142875" cy="2286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24562" y="3173610"/>
            <a:ext cx="142875" cy="2286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00987" y="3173610"/>
            <a:ext cx="142875" cy="2286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77412" y="3173610"/>
            <a:ext cx="142875" cy="2286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66750" y="4243238"/>
            <a:ext cx="1524000" cy="5572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b="0" sz="975" i="0" u="none">
                <a:solidFill>
                  <a:srgbClr val="9A93B8"/>
                </a:solidFill>
                <a:latin typeface="Lato"/>
              </a:rPr>
              <a:t>CSV / NDJSON / TXT files land automatically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33650" y="4243238"/>
            <a:ext cx="1524000" cy="5572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b="0" sz="975" i="0" u="none">
                <a:solidFill>
                  <a:srgbClr val="9A93B8"/>
                </a:solidFill>
                <a:latin typeface="Lato"/>
              </a:rPr>
              <a:t>No constraints — accepts dirty data as-is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00550" y="4243238"/>
            <a:ext cx="1524000" cy="5572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b="0" sz="975" i="0" u="none">
                <a:solidFill>
                  <a:srgbClr val="9A93B8"/>
                </a:solidFill>
                <a:latin typeface="Lato"/>
              </a:rPr>
              <a:t>Validated, deduped, rejects logged separately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7450" y="4243238"/>
            <a:ext cx="1524000" cy="5572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b="0" sz="975" i="0" u="none">
                <a:solidFill>
                  <a:srgbClr val="9A93B8"/>
                </a:solidFill>
                <a:latin typeface="Lato"/>
              </a:rPr>
              <a:t>DIM_* / FACT_* tables, surrogate keys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4350" y="4243238"/>
            <a:ext cx="1524000" cy="5572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b="0" sz="975" i="0" u="none">
                <a:solidFill>
                  <a:srgbClr val="9A93B8"/>
                </a:solidFill>
                <a:latin typeface="Lato"/>
              </a:rPr>
              <a:t>Monthly summaries, anomaly detection, Gemini insights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01250" y="4243238"/>
            <a:ext cx="1524000" cy="5572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b="0" sz="975" i="0" u="none">
                <a:solidFill>
                  <a:srgbClr val="9A93B8"/>
                </a:solidFill>
                <a:latin typeface="Lato"/>
              </a:rPr>
              <a:t>Python reads MART / ANALYTICS directly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66812" y="2770733"/>
            <a:ext cx="476250" cy="47625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89848" y="3389858"/>
            <a:ext cx="1430178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Merriweather"/>
              </a:rPr>
              <a:t>S3 + Snowpipe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3900" y="3656558"/>
            <a:ext cx="1362075" cy="1485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70"/>
              </a:lnSpc>
            </a:pPr>
            <a:r>
              <a:rPr b="0" sz="900" i="0" u="none">
                <a:solidFill>
                  <a:srgbClr val="9A93B8"/>
                </a:solidFill>
                <a:latin typeface="Lato"/>
              </a:rPr>
              <a:t>Ingestion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43237" y="2770733"/>
            <a:ext cx="476250" cy="47625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2566273" y="3389858"/>
            <a:ext cx="1430178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Merriweather"/>
              </a:rPr>
              <a:t>RAW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00325" y="3656558"/>
            <a:ext cx="1362075" cy="1485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70"/>
              </a:lnSpc>
            </a:pPr>
            <a:r>
              <a:rPr b="0" sz="900" i="0" u="none">
                <a:solidFill>
                  <a:srgbClr val="9A93B8"/>
                </a:solidFill>
                <a:latin typeface="Lato"/>
              </a:rPr>
              <a:t>Landing zone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19662" y="2770733"/>
            <a:ext cx="476250" cy="47625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442698" y="3389858"/>
            <a:ext cx="1430178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Merriweather"/>
              </a:rPr>
              <a:t>STAGE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76750" y="3656558"/>
            <a:ext cx="1362075" cy="1485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70"/>
              </a:lnSpc>
            </a:pPr>
            <a:r>
              <a:rPr b="0" sz="900" i="0" u="none">
                <a:solidFill>
                  <a:srgbClr val="9A93B8"/>
                </a:solidFill>
                <a:latin typeface="Lato"/>
              </a:rPr>
              <a:t>Validated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96087" y="2770733"/>
            <a:ext cx="476250" cy="47625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319123" y="3389858"/>
            <a:ext cx="1430178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Merriweather"/>
              </a:rPr>
              <a:t>MART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3175" y="3656558"/>
            <a:ext cx="1362075" cy="1485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70"/>
              </a:lnSpc>
            </a:pPr>
            <a:r>
              <a:rPr b="0" sz="900" i="0" u="none">
                <a:solidFill>
                  <a:srgbClr val="9A93B8"/>
                </a:solidFill>
                <a:latin typeface="Lato"/>
              </a:rPr>
              <a:t>Star schema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672512" y="2770733"/>
            <a:ext cx="476250" cy="47625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8195548" y="3389858"/>
            <a:ext cx="1430178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Merriweather"/>
              </a:rPr>
              <a:t>ANALYTICS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3656558"/>
            <a:ext cx="1362075" cy="1485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70"/>
              </a:lnSpc>
            </a:pPr>
            <a:r>
              <a:rPr b="0" sz="900" i="0" u="none">
                <a:solidFill>
                  <a:srgbClr val="9A93B8"/>
                </a:solidFill>
                <a:latin typeface="Lato"/>
              </a:rPr>
              <a:t>Views + AI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548937" y="2770733"/>
            <a:ext cx="476250" cy="47625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0071973" y="3389858"/>
            <a:ext cx="1430178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Merriweather"/>
              </a:rPr>
              <a:t>Streamlit App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06025" y="3656558"/>
            <a:ext cx="1362075" cy="1485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70"/>
              </a:lnSpc>
            </a:pPr>
            <a:r>
              <a:rPr b="0" sz="900" i="0" u="none">
                <a:solidFill>
                  <a:srgbClr val="9A93B8"/>
                </a:solidFill>
                <a:latin typeface="Lato"/>
              </a:rPr>
              <a:t>st.connection</a:t>
            </a:r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85875" y="2913608"/>
            <a:ext cx="238125" cy="190500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195637" y="2913608"/>
            <a:ext cx="171450" cy="190500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062537" y="2913608"/>
            <a:ext cx="190500" cy="190500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924675" y="2913608"/>
            <a:ext cx="219075" cy="190500"/>
          </a:xfrm>
          <a:prstGeom prst="rect">
            <a:avLst/>
          </a:prstGeom>
        </p:spPr>
      </p:pic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815387" y="2913608"/>
            <a:ext cx="190500" cy="190500"/>
          </a:xfrm>
          <a:prstGeom prst="rect">
            <a:avLst/>
          </a:prstGeom>
        </p:spPr>
      </p:pic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691812" y="2913608"/>
            <a:ext cx="19050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1689645"/>
            <a:ext cx="5286375" cy="4596854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506860"/>
            <a:ext cx="428625" cy="4286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249810"/>
            <a:ext cx="428625" cy="4286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992760"/>
            <a:ext cx="428625" cy="4286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735710"/>
            <a:ext cx="428625" cy="4286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15125" y="5121473"/>
            <a:ext cx="523875" cy="2571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81875" y="5121473"/>
            <a:ext cx="762000" cy="2571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86750" y="5121473"/>
            <a:ext cx="1276350" cy="2571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571500"/>
            <a:ext cx="110490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B4690E"/>
                </a:solidFill>
                <a:latin typeface="Lato"/>
              </a:rPr>
              <a:t>DATABASE · INGESTION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876300"/>
            <a:ext cx="11601450" cy="479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b="1" sz="3150" i="0" u="none">
                <a:solidFill>
                  <a:srgbClr val="241F3D"/>
                </a:solidFill>
                <a:latin typeface="Merriweather"/>
              </a:rPr>
              <a:t>Multi-format ingestion, fully automated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6410325"/>
            <a:ext cx="110490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A6285"/>
                </a:solidFill>
                <a:latin typeface="Lato"/>
              </a:rPr>
              <a:t>WealthWizard · Database Pipeline</a:t>
            </a:r>
            <a:r>
              <a:rPr b="0" sz="1050" i="0" u="none">
                <a:solidFill>
                  <a:srgbClr val="6A6285"/>
                </a:solidFill>
                <a:latin typeface="Lato"/>
              </a:rPr>
              <a:t> </a:t>
            </a:r>
            <a:r>
              <a:rPr b="0" sz="1050" i="0" u="none">
                <a:solidFill>
                  <a:srgbClr val="6A6285"/>
                </a:solidFill>
                <a:latin typeface="Lato"/>
              </a:rPr>
              <a:t>04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15125" y="2597348"/>
            <a:ext cx="523875" cy="52387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715125" y="3311723"/>
            <a:ext cx="4750593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241F3D"/>
                </a:solidFill>
                <a:latin typeface="Merriweather"/>
              </a:rPr>
              <a:t>Design principle: raw = faithful copy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15125" y="3721298"/>
            <a:ext cx="452437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EAE7F5"/>
                </a:solidFill>
                <a:latin typeface="Lato"/>
              </a:rPr>
              <a:t>Real-world raw data is messy — negative amounts, mixed date formats, missing IDs. Rather than reject it at the door, RAW tables store every column as nullable text with a generated surrogate row key. Nothing is lost; everything is captured for the Stage layer to validate.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15125" y="4921448"/>
            <a:ext cx="4524375" cy="9525"/>
          </a:xfrm>
          <a:prstGeom prst="rect">
            <a:avLst/>
          </a:prstGeom>
          <a:solidFill>
            <a:srgbClr val="2A2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34187" y="2744985"/>
            <a:ext cx="285750" cy="2286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190625" y="2506860"/>
            <a:ext cx="457057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241F3D"/>
                </a:solidFill>
                <a:latin typeface="Lato"/>
              </a:rPr>
              <a:t>Amazon S3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90625" y="2783085"/>
            <a:ext cx="43529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6A6285"/>
                </a:solidFill>
                <a:latin typeface="Lato"/>
              </a:rPr>
              <a:t>Entity-first folders (user/, transaction/, budget/…), date-partitioned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90625" y="3249810"/>
            <a:ext cx="4480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241F3D"/>
                </a:solidFill>
                <a:latin typeface="Lato"/>
              </a:rPr>
              <a:t>Storage Integration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90625" y="3526035"/>
            <a:ext cx="426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6A6285"/>
                </a:solidFill>
                <a:latin typeface="Lato"/>
              </a:rPr>
              <a:t>IAM-scoped connection — Snowflake never sees AWS credentials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90625" y="3992760"/>
            <a:ext cx="470058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241F3D"/>
                </a:solidFill>
                <a:latin typeface="Lato"/>
              </a:rPr>
              <a:t>Snowpipe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90625" y="4268985"/>
            <a:ext cx="44767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6A6285"/>
                </a:solidFill>
                <a:latin typeface="Lato"/>
              </a:rPr>
              <a:t>7 auto-ingesting pipes, one per entity/format — event-driven via SQS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90625" y="4735710"/>
            <a:ext cx="49006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241F3D"/>
                </a:solidFill>
                <a:latin typeface="Lato"/>
              </a:rPr>
              <a:t>RAW tables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90625" y="5011935"/>
            <a:ext cx="46672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6A6285"/>
                </a:solidFill>
                <a:latin typeface="Lato"/>
              </a:rPr>
              <a:t>Zero constraints by design: every value is nullable text, so nothing gets silently rejected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1689645"/>
            <a:ext cx="5286375" cy="4596854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5800725"/>
            <a:ext cx="5286375" cy="4857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571500"/>
            <a:ext cx="110490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B4690E"/>
                </a:solidFill>
                <a:latin typeface="Lato"/>
              </a:rPr>
              <a:t>DATABASE · STAGE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876300"/>
            <a:ext cx="11601450" cy="479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b="1" sz="3150" i="0" u="none">
                <a:solidFill>
                  <a:srgbClr val="241F3D"/>
                </a:solidFill>
                <a:latin typeface="Merriweather"/>
              </a:rPr>
              <a:t>Every row is validated — nothing disappears silently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6410325"/>
            <a:ext cx="110490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A6285"/>
                </a:solidFill>
                <a:latin typeface="Lato"/>
              </a:rPr>
              <a:t>WealthWizard · Database Pipeline</a:t>
            </a:r>
            <a:r>
              <a:rPr b="0" sz="1050" i="0" u="none">
                <a:solidFill>
                  <a:srgbClr val="6A6285"/>
                </a:solidFill>
                <a:latin typeface="Lato"/>
              </a:rPr>
              <a:t> </a:t>
            </a:r>
            <a:r>
              <a:rPr b="0" sz="1050" i="0" u="none">
                <a:solidFill>
                  <a:srgbClr val="6A6285"/>
                </a:solidFill>
                <a:latin typeface="Lato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34125" y="1880145"/>
            <a:ext cx="5550693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241F3D"/>
                </a:solidFill>
                <a:latin typeface="Merriweather"/>
              </a:rPr>
              <a:t>Raw → Stage reconciliation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4375" y="5943600"/>
            <a:ext cx="500062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050" i="1" u="none">
                <a:solidFill>
                  <a:srgbClr val="B4690E"/>
                </a:solidFill>
                <a:latin typeface="Lato"/>
              </a:rPr>
              <a:t>Every rejected row is logged with a specific reason — never silently dropped.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689645"/>
            <a:ext cx="428625" cy="4286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432595"/>
            <a:ext cx="428625" cy="4286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3175545"/>
            <a:ext cx="428625" cy="4286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3918495"/>
            <a:ext cx="428625" cy="4286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9612" y="1818233"/>
            <a:ext cx="152400" cy="1714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90625" y="1689645"/>
            <a:ext cx="465058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241F3D"/>
                </a:solidFill>
                <a:latin typeface="Lato"/>
              </a:rPr>
              <a:t>Type &amp; format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90625" y="1965870"/>
            <a:ext cx="44291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6A6285"/>
                </a:solidFill>
                <a:latin typeface="Lato"/>
              </a:rPr>
              <a:t>Dates parsed across 5 formats, currency strings stripped to decimals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9612" y="2561183"/>
            <a:ext cx="152400" cy="1714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190625" y="2432595"/>
            <a:ext cx="428053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241F3D"/>
                </a:solidFill>
                <a:latin typeface="Lato"/>
              </a:rPr>
              <a:t>Business rules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90625" y="2708820"/>
            <a:ext cx="40767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6A6285"/>
                </a:solidFill>
                <a:latin typeface="Lato"/>
              </a:rPr>
              <a:t>Negative amounts rejected, future-dated transactions rejected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9612" y="3304133"/>
            <a:ext cx="152400" cy="1714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190625" y="3175545"/>
            <a:ext cx="398049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241F3D"/>
                </a:solidFill>
                <a:latin typeface="Lato"/>
              </a:rPr>
              <a:t>Referential integrity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90625" y="3451770"/>
            <a:ext cx="37909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6A6285"/>
                </a:solidFill>
                <a:latin typeface="Lato"/>
              </a:rPr>
              <a:t>Orphan user_id / category_id caught before reaching Stage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9612" y="4047083"/>
            <a:ext cx="152400" cy="17145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190625" y="3918495"/>
            <a:ext cx="371046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241F3D"/>
                </a:solidFill>
                <a:latin typeface="Lato"/>
              </a:rPr>
              <a:t>Deduplication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90625" y="4194720"/>
            <a:ext cx="35337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6A6285"/>
                </a:solidFill>
                <a:latin typeface="Lato"/>
              </a:rPr>
              <a:t>Tie-broken so a valid row can never lose to a blank one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1689645"/>
            <a:ext cx="5286375" cy="4596854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149226"/>
            <a:ext cx="2095500" cy="4857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920751"/>
            <a:ext cx="2095500" cy="4857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692276"/>
            <a:ext cx="2095500" cy="4857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38500" y="2149226"/>
            <a:ext cx="2667000" cy="7239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38500" y="3158876"/>
            <a:ext cx="2667000" cy="7239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38500" y="4168526"/>
            <a:ext cx="2667000" cy="7239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71500" y="571500"/>
            <a:ext cx="110490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2A03D"/>
                </a:solidFill>
                <a:latin typeface="Lato"/>
              </a:rPr>
              <a:t>DATABASE · MART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876300"/>
            <a:ext cx="11601450" cy="479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b="1" sz="3150" i="0" u="none">
                <a:solidFill>
                  <a:srgbClr val="FFFFFF"/>
                </a:solidFill>
                <a:latin typeface="Merriweather"/>
              </a:rPr>
              <a:t>A star schema built for fast dashboard queries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6410325"/>
            <a:ext cx="110490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A93B8"/>
                </a:solidFill>
                <a:latin typeface="Lato"/>
              </a:rPr>
              <a:t>WealthWizard · Database Pipeline</a:t>
            </a:r>
            <a:r>
              <a:rPr b="0" sz="1050" i="0" u="none">
                <a:solidFill>
                  <a:srgbClr val="9A93B8"/>
                </a:solidFill>
                <a:latin typeface="Lato"/>
              </a:rPr>
              <a:t> </a:t>
            </a:r>
            <a:r>
              <a:rPr b="0" sz="1050" i="0" u="none">
                <a:solidFill>
                  <a:srgbClr val="9A93B8"/>
                </a:solidFill>
                <a:latin typeface="Lato"/>
              </a:rPr>
              <a:t>06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15125" y="2821185"/>
            <a:ext cx="523875" cy="5238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715125" y="3535560"/>
            <a:ext cx="4750593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FFFFFF"/>
                </a:solidFill>
                <a:latin typeface="Merriweather"/>
              </a:rPr>
              <a:t>Why surrogate keys?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09875" y="2407741"/>
            <a:ext cx="171450" cy="1905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09875" y="3902273"/>
            <a:ext cx="171450" cy="1905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09875" y="5396954"/>
            <a:ext cx="171450" cy="1905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48475" y="2968823"/>
            <a:ext cx="257175" cy="2286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715125" y="4040385"/>
            <a:ext cx="4524375" cy="171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125" i="0" u="none">
                <a:solidFill>
                  <a:srgbClr val="EAE7F5"/>
                </a:solidFill>
                <a:latin typeface="Lato"/>
              </a:rPr>
              <a:t> Track history without overwriting past facts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15125" y="4354710"/>
            <a:ext cx="4524375" cy="171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125" i="0" u="none">
                <a:solidFill>
                  <a:srgbClr val="EAE7F5"/>
                </a:solidFill>
                <a:latin typeface="Lato"/>
              </a:rPr>
              <a:t> Decouple mart from source-system key formats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15125" y="4669035"/>
            <a:ext cx="4524375" cy="171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125" i="0" u="none">
                <a:solidFill>
                  <a:srgbClr val="EAE7F5"/>
                </a:solidFill>
                <a:latin typeface="Lato"/>
              </a:rPr>
              <a:t> Faster joins across every fact table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15125" y="4983360"/>
            <a:ext cx="4524375" cy="171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125" i="0" u="none">
                <a:solidFill>
                  <a:srgbClr val="EAE7F5"/>
                </a:solidFill>
                <a:latin typeface="Lato"/>
              </a:rPr>
              <a:t> A clean "unknown" row for orphaned references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33775" y="2301626"/>
            <a:ext cx="20764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EAE7F5"/>
                </a:solidFill>
                <a:latin typeface="Lato"/>
              </a:rPr>
              <a:t>FACT_TRANSACTION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33775" y="2558801"/>
            <a:ext cx="20764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F0BE7A"/>
                </a:solidFill>
                <a:latin typeface="Lato"/>
              </a:rPr>
              <a:t>78,155 rows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33775" y="3311276"/>
            <a:ext cx="20764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EAE7F5"/>
                </a:solidFill>
                <a:latin typeface="Lato"/>
              </a:rPr>
              <a:t>FACT_BUDGET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33775" y="3568451"/>
            <a:ext cx="20764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F0BE7A"/>
                </a:solidFill>
                <a:latin typeface="Lato"/>
              </a:rPr>
              <a:t>6,170 rows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33775" y="4320926"/>
            <a:ext cx="20764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EAE7F5"/>
                </a:solidFill>
                <a:latin typeface="Lato"/>
              </a:rPr>
              <a:t>FACT_INSIGHT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33775" y="4578101"/>
            <a:ext cx="20764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F0BE7A"/>
                </a:solidFill>
                <a:latin typeface="Lato"/>
              </a:rPr>
              <a:t>23,956 rows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1689645"/>
            <a:ext cx="5286375" cy="459685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571500"/>
            <a:ext cx="110490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B4690E"/>
                </a:solidFill>
                <a:latin typeface="Lato"/>
              </a:rPr>
              <a:t>DATABASE · ANALYTICS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876300"/>
            <a:ext cx="11601450" cy="479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b="1" sz="3150" i="0" u="none">
                <a:solidFill>
                  <a:srgbClr val="241F3D"/>
                </a:solidFill>
                <a:latin typeface="Merriweather"/>
              </a:rPr>
              <a:t>From numbers to narratives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6410325"/>
            <a:ext cx="110490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A6285"/>
                </a:solidFill>
                <a:latin typeface="Lato"/>
              </a:rPr>
              <a:t>WealthWizard · Database Pipeline</a:t>
            </a:r>
            <a:r>
              <a:rPr b="0" sz="1050" i="0" u="none">
                <a:solidFill>
                  <a:srgbClr val="6A6285"/>
                </a:solidFill>
                <a:latin typeface="Lato"/>
              </a:rPr>
              <a:t> </a:t>
            </a:r>
            <a:r>
              <a:rPr b="0" sz="1050" i="0" u="none">
                <a:solidFill>
                  <a:srgbClr val="6A6285"/>
                </a:solidFill>
                <a:latin typeface="Lato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15125" y="2070645"/>
            <a:ext cx="4524375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2A03D"/>
                </a:solidFill>
                <a:latin typeface="Lato"/>
              </a:rPr>
              <a:t>GEMINI-GENERATED INSIGHTS — ONE PRODUCTION RUN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621160"/>
            <a:ext cx="428625" cy="4286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364110"/>
            <a:ext cx="428625" cy="4286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107060"/>
            <a:ext cx="428625" cy="4286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850010"/>
            <a:ext cx="428625" cy="4286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0087" y="2749748"/>
            <a:ext cx="171450" cy="1714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90625" y="2621160"/>
            <a:ext cx="342042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241F3D"/>
                </a:solidFill>
                <a:latin typeface="Lato"/>
              </a:rPr>
              <a:t>Monthly Spend Summary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90625" y="2897385"/>
            <a:ext cx="32575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6A6285"/>
                </a:solidFill>
                <a:latin typeface="Lato"/>
              </a:rPr>
              <a:t>Income, expense &amp; net savings per user per month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0087" y="3492698"/>
            <a:ext cx="171450" cy="1714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90625" y="3364110"/>
            <a:ext cx="296037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241F3D"/>
                </a:solidFill>
                <a:latin typeface="Lato"/>
              </a:rPr>
              <a:t>Category Ranking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90625" y="3640335"/>
            <a:ext cx="2819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6A6285"/>
                </a:solidFill>
                <a:latin typeface="Lato"/>
              </a:rPr>
              <a:t>Top spending categories, ranked, per period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0087" y="4235648"/>
            <a:ext cx="171450" cy="1714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190625" y="4107060"/>
            <a:ext cx="3840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241F3D"/>
                </a:solidFill>
                <a:latin typeface="Lato"/>
              </a:rPr>
              <a:t>Spending Anomaly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90625" y="4383285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6A6285"/>
                </a:solidFill>
                <a:latin typeface="Lato"/>
              </a:rPr>
              <a:t>Flags spend &gt; 1.5× a category's 6-month trailing average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0562" y="4978598"/>
            <a:ext cx="190500" cy="1714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190625" y="4850010"/>
            <a:ext cx="402050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241F3D"/>
                </a:solidFill>
                <a:latin typeface="Lato"/>
              </a:rPr>
              <a:t>Savings Opportunity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90625" y="5126235"/>
            <a:ext cx="38290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6A6285"/>
                </a:solidFill>
                <a:latin typeface="Lato"/>
              </a:rPr>
              <a:t>Flags spend &lt; 70% of trailing average — the good news, too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21123"/>
            <a:ext cx="5286375" cy="3333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2321123"/>
            <a:ext cx="5286375" cy="33337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9650" y="2702123"/>
            <a:ext cx="657225" cy="2381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82275" y="2702123"/>
            <a:ext cx="657225" cy="2381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571500"/>
            <a:ext cx="110490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B4690E"/>
                </a:solidFill>
                <a:latin typeface="Lato"/>
              </a:rPr>
              <a:t>DATABASE · BUSINESS LOGIC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876300"/>
            <a:ext cx="11601450" cy="479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b="1" sz="3150" i="0" u="none">
                <a:solidFill>
                  <a:srgbClr val="241F3D"/>
                </a:solidFill>
                <a:latin typeface="Merriweather"/>
              </a:rPr>
              <a:t>The pipeline doesn't just clean data — it acts on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6410325"/>
            <a:ext cx="110490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A6285"/>
                </a:solidFill>
                <a:latin typeface="Lato"/>
              </a:rPr>
              <a:t>WealthWizard · Database Pipeline</a:t>
            </a:r>
            <a:r>
              <a:rPr b="0" sz="1050" i="0" u="none">
                <a:solidFill>
                  <a:srgbClr val="6A6285"/>
                </a:solidFill>
                <a:latin typeface="Lato"/>
              </a:rPr>
              <a:t> </a:t>
            </a:r>
            <a:r>
              <a:rPr b="0" sz="1050" i="0" u="none">
                <a:solidFill>
                  <a:srgbClr val="6A6285"/>
                </a:solidFill>
                <a:latin typeface="Lato"/>
              </a:rPr>
              <a:t>08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2500" y="2702123"/>
            <a:ext cx="476250" cy="4762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52500" y="3368873"/>
            <a:ext cx="4750593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241F3D"/>
                </a:solidFill>
                <a:latin typeface="Merriweather"/>
              </a:rPr>
              <a:t>Category Reassignment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2500" y="3778448"/>
            <a:ext cx="4524375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EAE7F5"/>
                </a:solidFill>
                <a:latin typeface="Lato"/>
              </a:rPr>
              <a:t>When a category is deactivated, its transactions don't become orphans. A guarded procedure automatically reassigns them to Uncategorized and logs the change — every reassignment is traceable.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15125" y="2702123"/>
            <a:ext cx="476250" cy="4762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715125" y="3368873"/>
            <a:ext cx="4750593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241F3D"/>
                </a:solidFill>
                <a:latin typeface="Merriweather"/>
              </a:rPr>
              <a:t>Budget Alerts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15125" y="3778448"/>
            <a:ext cx="4524375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EAE7F5"/>
                </a:solidFill>
                <a:latin typeface="Lato"/>
              </a:rPr>
              <a:t>Budgets are recalculated against real spend and classified ok / over. Alerts refresh automatically, non-blocking — they inform the member without stopping a transaction.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5375" y="2844998"/>
            <a:ext cx="190500" cy="1905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67525" y="2844998"/>
            <a:ext cx="17145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566070"/>
            <a:ext cx="11049000" cy="5905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7475" y="4618583"/>
            <a:ext cx="1333500" cy="4667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5325" y="4537620"/>
            <a:ext cx="1333500" cy="6286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3175" y="4537620"/>
            <a:ext cx="1333500" cy="6286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01025" y="4537620"/>
            <a:ext cx="1333500" cy="6286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1500" y="571500"/>
            <a:ext cx="110490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2A03D"/>
                </a:solidFill>
                <a:latin typeface="Lato"/>
              </a:rPr>
              <a:t>DATABASE · AUTOMATION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876300"/>
            <a:ext cx="11601450" cy="479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b="1" sz="3150" i="0" u="none">
                <a:solidFill>
                  <a:srgbClr val="FFFFFF"/>
                </a:solidFill>
                <a:latin typeface="Merriweather"/>
              </a:rPr>
              <a:t>Streams + Tasks: Snowflake's event-driven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6410325"/>
            <a:ext cx="110490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A93B8"/>
                </a:solidFill>
                <a:latin typeface="Lato"/>
              </a:rPr>
              <a:t>WealthWizard · Automation</a:t>
            </a:r>
            <a:r>
              <a:rPr b="0" sz="1050" i="0" u="none">
                <a:solidFill>
                  <a:srgbClr val="9A93B8"/>
                </a:solidFill>
                <a:latin typeface="Lato"/>
              </a:rPr>
              <a:t> </a:t>
            </a:r>
            <a:r>
              <a:rPr b="0" sz="1050" i="0" u="none">
                <a:solidFill>
                  <a:srgbClr val="9A93B8"/>
                </a:solidFill>
                <a:latin typeface="Lato"/>
              </a:rPr>
              <a:t>09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5356770"/>
            <a:ext cx="11049000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b="0" sz="975" i="1" u="none">
                <a:solidFill>
                  <a:srgbClr val="9A93B8"/>
                </a:solidFill>
                <a:latin typeface="Lato"/>
              </a:rPr>
              <a:t>SYSTEM$STREAM_HAS_DATA() gates every task — an empty stream means zero credits spent.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1689645"/>
            <a:ext cx="11049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2A03D"/>
                </a:solidFill>
                <a:latin typeface="Lato"/>
              </a:rPr>
              <a:t>STREAM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194682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EAE7F5"/>
                </a:solidFill>
                <a:latin typeface="Lato"/>
              </a:rPr>
              <a:t>"What changed since I last looked?" — a passive, always-on change-data-capture pointer on every table.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" y="2556420"/>
            <a:ext cx="11049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2A03D"/>
                </a:solidFill>
                <a:latin typeface="Lato"/>
              </a:rPr>
              <a:t>TASK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" y="2813595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EAE7F5"/>
                </a:solidFill>
                <a:latin typeface="Lato"/>
              </a:rPr>
              <a:t>Runs on a schedule but skips execution entirely when its stream is empty — zero compute cost while idle.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09812" y="3766095"/>
            <a:ext cx="7572375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1" u="none">
                <a:solidFill>
                  <a:srgbClr val="F2A03D"/>
                </a:solidFill>
                <a:latin typeface="Lato"/>
              </a:rPr>
              <a:t>Every stage of the pipeline chains automatically — Raw clean → Mart load → Alerts → Insights — no manual trigger required.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81475" y="4780508"/>
            <a:ext cx="133350" cy="1524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29325" y="4780508"/>
            <a:ext cx="133350" cy="1524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77175" y="4780508"/>
            <a:ext cx="13335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1689645"/>
            <a:ext cx="5286375" cy="4596854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402085"/>
            <a:ext cx="5286375" cy="6858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230760"/>
            <a:ext cx="5286375" cy="685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059435"/>
            <a:ext cx="5286375" cy="685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888110"/>
            <a:ext cx="5286375" cy="685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1500" y="571500"/>
            <a:ext cx="110490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B4690E"/>
                </a:solidFill>
                <a:latin typeface="Lato"/>
              </a:rPr>
              <a:t>DATABASE · GOVERNANCE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876300"/>
            <a:ext cx="11601450" cy="479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b="1" sz="3150" i="0" u="none">
                <a:solidFill>
                  <a:srgbClr val="241F3D"/>
                </a:solidFill>
                <a:latin typeface="Merriweather"/>
              </a:rPr>
              <a:t>One role, least privilege, full traceability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6410325"/>
            <a:ext cx="110490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A6285"/>
                </a:solidFill>
                <a:latin typeface="Lato"/>
              </a:rPr>
              <a:t>WealthWizard · Database Pipeline</a:t>
            </a:r>
            <a:r>
              <a:rPr b="0" sz="1050" i="0" u="none">
                <a:solidFill>
                  <a:srgbClr val="6A6285"/>
                </a:solidFill>
                <a:latin typeface="Lato"/>
              </a:rPr>
              <a:t> </a:t>
            </a:r>
            <a:r>
              <a:rPr b="0" sz="1050" i="0" u="none">
                <a:solidFill>
                  <a:srgbClr val="6A6285"/>
                </a:solidFill>
                <a:latin typeface="Lato"/>
              </a:rPr>
              <a:t>10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15125" y="2416373"/>
            <a:ext cx="476250" cy="4762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715125" y="3083123"/>
            <a:ext cx="4750593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241F3D"/>
                </a:solidFill>
                <a:latin typeface="Merriweather"/>
              </a:rPr>
              <a:t>WEALTHWIZARD_ETL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15125" y="3521273"/>
            <a:ext cx="4524375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EAE7F5"/>
                </a:solidFill>
                <a:latin typeface="Lato"/>
              </a:rPr>
              <a:t>One dedicated role owns every pipeline object — tables, views, streams, tasks, pipes, and stages — instead of ad-hoc admin access.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15125" y="4235648"/>
            <a:ext cx="4524375" cy="9525"/>
          </a:xfrm>
          <a:prstGeom prst="rect">
            <a:avLst/>
          </a:prstGeom>
          <a:solidFill>
            <a:srgbClr val="2A2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1525" y="2554485"/>
            <a:ext cx="4886325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6A6285"/>
                </a:solidFill>
                <a:latin typeface="Lato"/>
              </a:rPr>
              <a:t>RAW_WEALTH_WIZARD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1525" y="2783085"/>
            <a:ext cx="48863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A6285"/>
                </a:solidFill>
                <a:latin typeface="Lato"/>
              </a:rPr>
              <a:t>Landing zone — locked down, no downstream access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1525" y="3383160"/>
            <a:ext cx="4886325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6A6285"/>
                </a:solidFill>
                <a:latin typeface="Lato"/>
              </a:rPr>
              <a:t>STAGE_WEALTH_WIZARD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1525" y="3611760"/>
            <a:ext cx="48863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A6285"/>
                </a:solidFill>
                <a:latin typeface="Lato"/>
              </a:rPr>
              <a:t>Validated data — pipeline-only access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1525" y="4211835"/>
            <a:ext cx="4886325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6A6285"/>
                </a:solidFill>
                <a:latin typeface="Lato"/>
              </a:rPr>
              <a:t>MART_WEALTH_WIZARD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1525" y="4440435"/>
            <a:ext cx="48863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A6285"/>
                </a:solidFill>
                <a:latin typeface="Lato"/>
              </a:rPr>
              <a:t>Star schema — read access for the Streamlit app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1525" y="5040510"/>
            <a:ext cx="4886325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6A6285"/>
                </a:solidFill>
                <a:latin typeface="Lato"/>
              </a:rPr>
              <a:t>ANALYTICS_WEALTH_WIZARD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1525" y="5269110"/>
            <a:ext cx="48863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A6285"/>
                </a:solidFill>
                <a:latin typeface="Lato"/>
              </a:rPr>
              <a:t>Views &amp; AI grounding — dashboard-facing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0" y="2559248"/>
            <a:ext cx="190500" cy="1905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715125" y="4483298"/>
            <a:ext cx="4524375" cy="161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050" i="0" u="none">
                <a:solidFill>
                  <a:srgbClr val="EAE7F5"/>
                </a:solidFill>
                <a:latin typeface="Lato"/>
              </a:rPr>
              <a:t> SELECT / INSERT / UPDATE on future tables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15125" y="4788098"/>
            <a:ext cx="4524375" cy="161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050" i="0" u="none">
                <a:solidFill>
                  <a:srgbClr val="EAE7F5"/>
                </a:solidFill>
                <a:latin typeface="Lato"/>
              </a:rPr>
              <a:t> USAGE on every schema, explicitly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15125" y="5092898"/>
            <a:ext cx="4524375" cy="161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050" i="0" u="none">
                <a:solidFill>
                  <a:srgbClr val="EAE7F5"/>
                </a:solidFill>
                <a:latin typeface="Lato"/>
              </a:rPr>
              <a:t> OPERATE + MONITOR on all pipes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15125" y="5397698"/>
            <a:ext cx="4524375" cy="161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050" i="0" u="none">
                <a:solidFill>
                  <a:srgbClr val="EAE7F5"/>
                </a:solidFill>
                <a:latin typeface="Lato"/>
              </a:rPr>
              <a:t> EXECUTE TASK at account level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84895"/>
            <a:ext cx="2857500" cy="1524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0" y="1784895"/>
            <a:ext cx="3619500" cy="1524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3000" y="1784895"/>
            <a:ext cx="2857500" cy="1524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48250" y="3661320"/>
            <a:ext cx="2095500" cy="685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571500"/>
            <a:ext cx="110490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2A03D"/>
                </a:solidFill>
                <a:latin typeface="Lato"/>
              </a:rPr>
              <a:t>APPLICATION ·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876300"/>
            <a:ext cx="11601450" cy="479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b="1" sz="3150" i="0" u="none">
                <a:solidFill>
                  <a:srgbClr val="FFFFFF"/>
                </a:solidFill>
                <a:latin typeface="Merriweather"/>
              </a:rPr>
              <a:t>One Python process — no separate backend to secure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6410325"/>
            <a:ext cx="110490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A93B8"/>
                </a:solidFill>
                <a:latin typeface="Lato"/>
              </a:rPr>
              <a:t>WealthWizard · Architecture</a:t>
            </a:r>
            <a:r>
              <a:rPr b="0" sz="1050" i="0" u="none">
                <a:solidFill>
                  <a:srgbClr val="9A93B8"/>
                </a:solidFill>
                <a:latin typeface="Lato"/>
              </a:rPr>
              <a:t> </a:t>
            </a:r>
            <a:r>
              <a:rPr b="0" sz="1050" i="0" u="none">
                <a:solidFill>
                  <a:srgbClr val="9A93B8"/>
                </a:solidFill>
                <a:latin typeface="Lato"/>
              </a:rPr>
              <a:t>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4737645"/>
            <a:ext cx="11049000" cy="9525"/>
          </a:xfrm>
          <a:prstGeom prst="rect">
            <a:avLst/>
          </a:prstGeom>
          <a:solidFill>
            <a:srgbClr val="2A2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1500" y="5032920"/>
            <a:ext cx="11049000" cy="161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050" i="0" u="none">
                <a:solidFill>
                  <a:srgbClr val="EAE7F5"/>
                </a:solidFill>
                <a:latin typeface="Lato"/>
              </a:rPr>
              <a:t> </a:t>
            </a:r>
            <a:r>
              <a:rPr b="0" sz="1050" i="0" u="none">
                <a:solidFill>
                  <a:srgbClr val="EAE7F5"/>
                </a:solidFill>
                <a:latin typeface="Lato"/>
              </a:rPr>
              <a:t>st.connection("snowflake")</a:t>
            </a:r>
            <a:r>
              <a:rPr b="0" sz="1050" i="0" u="none">
                <a:solidFill>
                  <a:srgbClr val="EAE7F5"/>
                </a:solidFill>
                <a:latin typeface="Lato"/>
              </a:rPr>
              <a:t> holds one connection for the whole session — nothing else to configure.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5337720"/>
            <a:ext cx="11049000" cy="161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050" i="0" u="none">
                <a:solidFill>
                  <a:srgbClr val="EAE7F5"/>
                </a:solidFill>
                <a:latin typeface="Lato"/>
              </a:rPr>
              <a:t> </a:t>
            </a:r>
            <a:r>
              <a:rPr b="0" sz="1050" i="0" u="none">
                <a:solidFill>
                  <a:srgbClr val="EAE7F5"/>
                </a:solidFill>
                <a:latin typeface="Lato"/>
              </a:rPr>
              <a:t>data.py</a:t>
            </a:r>
            <a:r>
              <a:rPr b="0" sz="1050" i="0" u="none">
                <a:solidFill>
                  <a:srgbClr val="EAE7F5"/>
                </a:solidFill>
                <a:latin typeface="Lato"/>
              </a:rPr>
              <a:t> wraps every query in </a:t>
            </a:r>
            <a:r>
              <a:rPr b="0" sz="1050" i="0" u="none">
                <a:solidFill>
                  <a:srgbClr val="EAE7F5"/>
                </a:solidFill>
                <a:latin typeface="Lato"/>
              </a:rPr>
              <a:t>@st.cache_data(ttl=600s)</a:t>
            </a:r>
            <a:r>
              <a:rPr b="0" sz="1050" i="0" u="none">
                <a:solidFill>
                  <a:srgbClr val="EAE7F5"/>
                </a:solidFill>
                <a:latin typeface="Lato"/>
              </a:rPr>
              <a:t>, one function per screen, bound parameters only.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5642520"/>
            <a:ext cx="11049000" cy="161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050" i="0" u="none">
                <a:solidFill>
                  <a:srgbClr val="EAE7F5"/>
                </a:solidFill>
                <a:latin typeface="Lato"/>
              </a:rPr>
              <a:t> Signed-in member, selected month, and appearance mode all live in </a:t>
            </a:r>
            <a:r>
              <a:rPr b="0" sz="1050" i="0" u="none">
                <a:solidFill>
                  <a:srgbClr val="EAE7F5"/>
                </a:solidFill>
                <a:latin typeface="Lato"/>
              </a:rPr>
              <a:t>st.session_state</a:t>
            </a:r>
            <a:r>
              <a:rPr b="0" sz="1050" i="0" u="none">
                <a:solidFill>
                  <a:srgbClr val="EAE7F5"/>
                </a:solidFill>
                <a:latin typeface="Lato"/>
              </a:rPr>
              <a:t>, read once and shared across every page.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" y="5947320"/>
            <a:ext cx="11049000" cy="161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050" i="0" u="none">
                <a:solidFill>
                  <a:srgbClr val="EAE7F5"/>
                </a:solidFill>
                <a:latin typeface="Lato"/>
              </a:rPr>
              <a:t> </a:t>
            </a:r>
            <a:r>
              <a:rPr b="0" sz="1050" i="0" u="none">
                <a:solidFill>
                  <a:srgbClr val="EAE7F5"/>
                </a:solidFill>
                <a:latin typeface="Lato"/>
              </a:rPr>
              <a:t>ask.py</a:t>
            </a:r>
            <a:r>
              <a:rPr b="0" sz="1050" i="0" u="none">
                <a:solidFill>
                  <a:srgbClr val="EAE7F5"/>
                </a:solidFill>
                <a:latin typeface="Lato"/>
              </a:rPr>
              <a:t> calls the Gemini API directly with urllib, from inside this same process — the key never reaches the browser.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6775" y="2661195"/>
            <a:ext cx="22669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9A93B8"/>
                </a:solidFill>
                <a:latin typeface="Lato"/>
              </a:rPr>
              <a:t>Renders the Streamlit UI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57612" y="2437358"/>
            <a:ext cx="200025" cy="2286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581525" y="2661195"/>
            <a:ext cx="30289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9A93B8"/>
                </a:solidFill>
                <a:latin typeface="Lato"/>
              </a:rPr>
              <a:t>streamlit_app.py · session state · cached queries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34362" y="2437358"/>
            <a:ext cx="200025" cy="2286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058275" y="2661195"/>
            <a:ext cx="22669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9A93B8"/>
                </a:solidFill>
                <a:latin typeface="Lato"/>
              </a:rPr>
              <a:t>MART / ANALYTICS via st.connection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6775" y="2089695"/>
            <a:ext cx="428625" cy="42862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438275" y="2184945"/>
            <a:ext cx="820102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FFFFF"/>
                </a:solidFill>
                <a:latin typeface="Merriweather"/>
              </a:rPr>
              <a:t>Browser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81525" y="2089695"/>
            <a:ext cx="428625" cy="42862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153025" y="2184945"/>
            <a:ext cx="1730216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FFFFF"/>
                </a:solidFill>
                <a:latin typeface="Merriweather"/>
              </a:rPr>
              <a:t>Streamlit Process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00650" y="3813720"/>
            <a:ext cx="381000" cy="3810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724525" y="3913733"/>
            <a:ext cx="76200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FFFFF"/>
                </a:solidFill>
                <a:latin typeface="Lato"/>
              </a:rPr>
              <a:t>Gemini API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58275" y="2089695"/>
            <a:ext cx="428625" cy="42862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629775" y="2184945"/>
            <a:ext cx="1050131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FFFFF"/>
                </a:solidFill>
                <a:latin typeface="Merriweather"/>
              </a:rPr>
              <a:t>Snowflake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04887" y="2227808"/>
            <a:ext cx="152400" cy="15240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700587" y="2227808"/>
            <a:ext cx="190500" cy="15240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324475" y="3928020"/>
            <a:ext cx="133350" cy="15240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205912" y="2227808"/>
            <a:ext cx="13335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689645"/>
            <a:ext cx="3524250" cy="217929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3875" y="1689645"/>
            <a:ext cx="3524250" cy="217929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0" y="1689645"/>
            <a:ext cx="3524250" cy="217929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107060"/>
            <a:ext cx="3524250" cy="2179439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33875" y="4107060"/>
            <a:ext cx="3524250" cy="2179439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96250" y="4107060"/>
            <a:ext cx="3524250" cy="217943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571500"/>
            <a:ext cx="110490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B4690E"/>
                </a:solidFill>
                <a:latin typeface="Lato"/>
              </a:rPr>
              <a:t>DASHBOARD · PAGE TOUR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876300"/>
            <a:ext cx="11601450" cy="479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b="1" sz="3150" i="0" u="none">
                <a:solidFill>
                  <a:srgbClr val="241F3D"/>
                </a:solidFill>
                <a:latin typeface="Merriweather"/>
              </a:rPr>
              <a:t>Six pages, one signed-in member's record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6410325"/>
            <a:ext cx="110490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A6285"/>
                </a:solidFill>
                <a:latin typeface="Lato"/>
              </a:rPr>
              <a:t>WealthWizard · Dashboard</a:t>
            </a:r>
            <a:r>
              <a:rPr b="0" sz="1050" i="0" u="none">
                <a:solidFill>
                  <a:srgbClr val="6A6285"/>
                </a:solidFill>
                <a:latin typeface="Lato"/>
              </a:rPr>
              <a:t> </a:t>
            </a:r>
            <a:r>
              <a:rPr b="0" sz="1050" i="0" u="none">
                <a:solidFill>
                  <a:srgbClr val="6A6285"/>
                </a:solidFill>
                <a:latin typeface="Lato"/>
              </a:rPr>
              <a:t>12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9150" y="2163067"/>
            <a:ext cx="428625" cy="4286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19150" y="2734567"/>
            <a:ext cx="3180397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241F3D"/>
                </a:solidFill>
                <a:latin typeface="Merriweather"/>
              </a:rPr>
              <a:t>Overview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150" y="3048892"/>
            <a:ext cx="3028950" cy="3464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6A6285"/>
                </a:solidFill>
                <a:latin typeface="Lato"/>
              </a:rPr>
              <a:t>Lifetime total, this month's cards, category split, and a monthly trend on one screen.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81525" y="2163067"/>
            <a:ext cx="428625" cy="42862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581525" y="2734567"/>
            <a:ext cx="3180397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241F3D"/>
                </a:solidFill>
                <a:latin typeface="Merriweather"/>
              </a:rPr>
              <a:t>Transactions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525" y="3048892"/>
            <a:ext cx="3028950" cy="3464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6A6285"/>
                </a:solidFill>
                <a:latin typeface="Lato"/>
              </a:rPr>
              <a:t>The full ledger — filter by category, search descriptions, switch scope to the active month.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43900" y="2163067"/>
            <a:ext cx="428625" cy="42862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343900" y="2734567"/>
            <a:ext cx="3180397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241F3D"/>
                </a:solidFill>
                <a:latin typeface="Merriweather"/>
              </a:rPr>
              <a:t>Categories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3900" y="3048892"/>
            <a:ext cx="3028950" cy="3464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6A6285"/>
                </a:solidFill>
                <a:latin typeface="Lato"/>
              </a:rPr>
              <a:t>Lifetime vs. a single month, side by side, with a lifetime-share column for spotting spikes.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9150" y="4580632"/>
            <a:ext cx="428625" cy="42862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19150" y="5152132"/>
            <a:ext cx="3180397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241F3D"/>
                </a:solidFill>
                <a:latin typeface="Merriweather"/>
              </a:rPr>
              <a:t>Budgets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9150" y="5466457"/>
            <a:ext cx="3028950" cy="3464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6A6285"/>
                </a:solidFill>
                <a:latin typeface="Lato"/>
              </a:rPr>
              <a:t>Every envelope, limit vs. recomputed spend, with alerts raised when one was breached.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81525" y="4580632"/>
            <a:ext cx="428625" cy="428625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581525" y="5152132"/>
            <a:ext cx="3180397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241F3D"/>
                </a:solidFill>
                <a:latin typeface="Merriweather"/>
              </a:rPr>
              <a:t>Insights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81525" y="5466457"/>
            <a:ext cx="3028950" cy="3464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6A6285"/>
                </a:solidFill>
                <a:latin typeface="Lato"/>
              </a:rPr>
              <a:t>What the mart flagged — filterable by kind and severity, downloadable as CSV.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43900" y="4580632"/>
            <a:ext cx="428625" cy="428625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343900" y="5152132"/>
            <a:ext cx="3180397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241F3D"/>
                </a:solidFill>
                <a:latin typeface="Merriweather"/>
              </a:rPr>
              <a:t>Ask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43900" y="5466457"/>
            <a:ext cx="3028950" cy="3464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6A6285"/>
                </a:solidFill>
                <a:latin typeface="Lato"/>
              </a:rPr>
              <a:t>A Gemini-backed analyst that decides whether a question needs the member's own rows.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66787" y="2301180"/>
            <a:ext cx="133350" cy="15240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738687" y="2301180"/>
            <a:ext cx="114300" cy="15240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472487" y="2301180"/>
            <a:ext cx="171450" cy="15240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57262" y="4718744"/>
            <a:ext cx="152400" cy="15240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738687" y="4718744"/>
            <a:ext cx="114300" cy="15240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462962" y="4718744"/>
            <a:ext cx="19050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689645"/>
            <a:ext cx="5286375" cy="55721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1689645"/>
            <a:ext cx="5286375" cy="55721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8750" y="4013745"/>
            <a:ext cx="428625" cy="571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52625" y="4013745"/>
            <a:ext cx="428625" cy="571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76500" y="4013745"/>
            <a:ext cx="428625" cy="571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00375" y="4013745"/>
            <a:ext cx="428625" cy="571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4250" y="4013745"/>
            <a:ext cx="428625" cy="571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48125" y="4013745"/>
            <a:ext cx="428625" cy="571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0" y="4013745"/>
            <a:ext cx="428625" cy="5715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1500" y="571500"/>
            <a:ext cx="110490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2A03D"/>
                </a:solidFill>
                <a:latin typeface="Lato"/>
              </a:rPr>
              <a:t>DASHBOARD · DESIGN LANGUAGE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876300"/>
            <a:ext cx="11601450" cy="479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b="1" sz="3150" i="0" u="none">
                <a:solidFill>
                  <a:srgbClr val="FFFFFF"/>
                </a:solidFill>
                <a:latin typeface="Merriweather"/>
              </a:rPr>
              <a:t>Banknote colour, and a split-flap board for the numbers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" y="6410325"/>
            <a:ext cx="110490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A93B8"/>
                </a:solidFill>
                <a:latin typeface="Lato"/>
              </a:rPr>
              <a:t>WealthWizard · Dashboard</a:t>
            </a:r>
            <a:r>
              <a:rPr b="0" sz="1050" i="0" u="none">
                <a:solidFill>
                  <a:srgbClr val="9A93B8"/>
                </a:solidFill>
                <a:latin typeface="Lato"/>
              </a:rPr>
              <a:t> </a:t>
            </a:r>
            <a:r>
              <a:rPr b="0" sz="1050" i="0" u="none">
                <a:solidFill>
                  <a:srgbClr val="9A93B8"/>
                </a:solidFill>
                <a:latin typeface="Lato"/>
              </a:rPr>
              <a:t>13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2500" y="2165895"/>
            <a:ext cx="4750593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FFFFFF"/>
                </a:solidFill>
                <a:latin typeface="Merriweather"/>
              </a:rPr>
              <a:t>The signature: split-flap totals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2500" y="2623095"/>
            <a:ext cx="452437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EAE7F5"/>
                </a:solidFill>
                <a:latin typeface="Lato"/>
              </a:rPr>
              <a:t>Every hero total renders as individual tiles — styled and animated like an airport departure board — that flip into place on load. Digits get the flap treatment; separators and punctuation render as quiet, static tiles beside them.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2500" y="4728120"/>
            <a:ext cx="452437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b="0" sz="975" i="1" u="none">
                <a:solidFill>
                  <a:srgbClr val="9A93B8"/>
                </a:solidFill>
                <a:latin typeface="Lato"/>
              </a:rPr>
              <a:t>Cr · headline figure, mid-flip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15125" y="2165895"/>
            <a:ext cx="4750593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FFFFFF"/>
                </a:solidFill>
                <a:latin typeface="Merriweather"/>
              </a:rPr>
              <a:t>A palette drawn from Indian banknotes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15125" y="2623095"/>
            <a:ext cx="452437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EAE7F5"/>
                </a:solidFill>
                <a:latin typeface="Lato"/>
              </a:rPr>
              <a:t>The app counts in rupees, so its colours come from the notes themselves — enough distinct hues for a twenty-slice category ring without inventing any.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15125" y="6356895"/>
            <a:ext cx="4524375" cy="9525"/>
          </a:xfrm>
          <a:prstGeom prst="rect">
            <a:avLst/>
          </a:prstGeom>
          <a:solidFill>
            <a:srgbClr val="2A2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15125" y="6509295"/>
            <a:ext cx="4524375" cy="348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1" u="none">
                <a:solidFill>
                  <a:srgbClr val="F2A03D"/>
                </a:solidFill>
                <a:latin typeface="Lato"/>
              </a:rPr>
              <a:t>Every colour is a CSS variable, swapped in one function for the light/dark toggle — no component ever names a hue directly.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28750" y="4299495"/>
            <a:ext cx="428625" cy="19050"/>
          </a:xfrm>
          <a:prstGeom prst="rect">
            <a:avLst/>
          </a:prstGeom>
          <a:solidFill>
            <a:srgbClr val="141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952625" y="4299495"/>
            <a:ext cx="428625" cy="19050"/>
          </a:xfrm>
          <a:prstGeom prst="rect">
            <a:avLst/>
          </a:prstGeom>
          <a:solidFill>
            <a:srgbClr val="141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476500" y="4299495"/>
            <a:ext cx="428625" cy="19050"/>
          </a:xfrm>
          <a:prstGeom prst="rect">
            <a:avLst/>
          </a:prstGeom>
          <a:solidFill>
            <a:srgbClr val="141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000375" y="4299495"/>
            <a:ext cx="428625" cy="19050"/>
          </a:xfrm>
          <a:prstGeom prst="rect">
            <a:avLst/>
          </a:prstGeom>
          <a:solidFill>
            <a:srgbClr val="141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524250" y="4299495"/>
            <a:ext cx="428625" cy="19050"/>
          </a:xfrm>
          <a:prstGeom prst="rect">
            <a:avLst/>
          </a:prstGeom>
          <a:solidFill>
            <a:srgbClr val="141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048125" y="4299495"/>
            <a:ext cx="428625" cy="19050"/>
          </a:xfrm>
          <a:prstGeom prst="rect">
            <a:avLst/>
          </a:prstGeom>
          <a:solidFill>
            <a:srgbClr val="141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0" y="4299495"/>
            <a:ext cx="428625" cy="19050"/>
          </a:xfrm>
          <a:prstGeom prst="rect">
            <a:avLst/>
          </a:prstGeom>
          <a:solidFill>
            <a:srgbClr val="141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715125" y="3594645"/>
            <a:ext cx="381000" cy="381000"/>
          </a:xfrm>
          <a:prstGeom prst="roundRect">
            <a:avLst>
              <a:gd name="adj" fmla="val 15000"/>
            </a:avLst>
          </a:prstGeom>
          <a:solidFill>
            <a:srgbClr val="F2A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715125" y="4118520"/>
            <a:ext cx="381000" cy="381000"/>
          </a:xfrm>
          <a:prstGeom prst="roundRect">
            <a:avLst>
              <a:gd name="adj" fmla="val 15000"/>
            </a:avLst>
          </a:prstGeom>
          <a:solidFill>
            <a:srgbClr val="A78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715125" y="4642395"/>
            <a:ext cx="381000" cy="381000"/>
          </a:xfrm>
          <a:prstGeom prst="roundRect">
            <a:avLst>
              <a:gd name="adj" fmla="val 15000"/>
            </a:avLst>
          </a:prstGeom>
          <a:solidFill>
            <a:srgbClr val="35A7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715125" y="5166270"/>
            <a:ext cx="381000" cy="381000"/>
          </a:xfrm>
          <a:prstGeom prst="roundRect">
            <a:avLst>
              <a:gd name="adj" fmla="val 15000"/>
            </a:avLst>
          </a:prstGeom>
          <a:solidFill>
            <a:srgbClr val="E863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715125" y="5690145"/>
            <a:ext cx="381000" cy="381000"/>
          </a:xfrm>
          <a:prstGeom prst="roundRect">
            <a:avLst>
              <a:gd name="adj" fmla="val 15000"/>
            </a:avLst>
          </a:prstGeom>
          <a:solidFill>
            <a:srgbClr val="46B0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86625" y="3608933"/>
            <a:ext cx="952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EAE7F5"/>
                </a:solidFill>
                <a:latin typeface="Lato"/>
              </a:rPr>
              <a:t>₹200 · Saffron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86625" y="3818483"/>
            <a:ext cx="9525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A93B8"/>
                </a:solidFill>
                <a:latin typeface="Consolas"/>
              </a:rPr>
              <a:t>#F2A03D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86625" y="4132808"/>
            <a:ext cx="10858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EAE7F5"/>
                </a:solidFill>
                <a:latin typeface="Lato"/>
              </a:rPr>
              <a:t>₹100 · Lavender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86625" y="4342358"/>
            <a:ext cx="10858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A93B8"/>
                </a:solidFill>
                <a:latin typeface="Consolas"/>
              </a:rPr>
              <a:t>#A78BD0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86625" y="4656683"/>
            <a:ext cx="7048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EAE7F5"/>
                </a:solidFill>
                <a:latin typeface="Lato"/>
              </a:rPr>
              <a:t>₹50 · Cyan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86625" y="4866233"/>
            <a:ext cx="7048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A93B8"/>
                </a:solidFill>
                <a:latin typeface="Consolas"/>
              </a:rPr>
              <a:t>#35A7C2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86625" y="5180558"/>
            <a:ext cx="11239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EAE7F5"/>
                </a:solidFill>
                <a:latin typeface="Lato"/>
              </a:rPr>
              <a:t>₹2000 · Magenta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86625" y="5390108"/>
            <a:ext cx="11239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A93B8"/>
                </a:solidFill>
                <a:latin typeface="Consolas"/>
              </a:rPr>
              <a:t>#E8637F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86625" y="5718720"/>
            <a:ext cx="108585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EAE7F5"/>
                </a:solidFill>
                <a:latin typeface="Lato"/>
              </a:rPr>
              <a:t>Positive · Green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86625" y="5899695"/>
            <a:ext cx="10858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A93B8"/>
                </a:solidFill>
                <a:latin typeface="Consolas"/>
              </a:rPr>
              <a:t>#46B08D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1689645"/>
            <a:ext cx="5286375" cy="4596854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2250" y="1927770"/>
            <a:ext cx="4810125" cy="7334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2250" y="2851695"/>
            <a:ext cx="885825" cy="7143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53325" y="2851695"/>
            <a:ext cx="885825" cy="7143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4400" y="2851695"/>
            <a:ext cx="885825" cy="7143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15475" y="2851695"/>
            <a:ext cx="885825" cy="7143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96550" y="2851695"/>
            <a:ext cx="885825" cy="7143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71500" y="571500"/>
            <a:ext cx="110490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B4690E"/>
                </a:solidFill>
                <a:latin typeface="Lato"/>
              </a:rPr>
              <a:t>DASHBOARD · OVERVIEW PAGE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876300"/>
            <a:ext cx="11601450" cy="479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b="1" sz="3150" i="0" u="none">
                <a:solidFill>
                  <a:srgbClr val="241F3D"/>
                </a:solidFill>
                <a:latin typeface="Merriweather"/>
              </a:rPr>
              <a:t>A member's whole record, one month at a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6410325"/>
            <a:ext cx="110490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A6285"/>
                </a:solidFill>
                <a:latin typeface="Lato"/>
              </a:rPr>
              <a:t>WealthWizard · Dashboard</a:t>
            </a:r>
            <a:r>
              <a:rPr b="0" sz="1050" i="0" u="none">
                <a:solidFill>
                  <a:srgbClr val="6A6285"/>
                </a:solidFill>
                <a:latin typeface="Lato"/>
              </a:rPr>
              <a:t> </a:t>
            </a:r>
            <a:r>
              <a:rPr b="0" sz="1050" i="0" u="none">
                <a:solidFill>
                  <a:srgbClr val="6A6285"/>
                </a:solidFill>
                <a:latin typeface="Lato"/>
              </a:rPr>
              <a:t>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4350" y="5375820"/>
            <a:ext cx="1685925" cy="1571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37"/>
              </a:lnSpc>
            </a:pPr>
            <a:r>
              <a:rPr b="0" sz="825" i="1" u="none">
                <a:solidFill>
                  <a:srgbClr val="9A93B8"/>
                </a:solidFill>
                <a:latin typeface="Lato"/>
              </a:rPr>
              <a:t>Category split · monthly trend, mocked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1500" y="2168723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B469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71500" y="288309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BE3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71500" y="379749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6E5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71500" y="471189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16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71500" y="5426273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1B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24650" y="2032545"/>
            <a:ext cx="4505325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750" i="0" u="none">
                <a:solidFill>
                  <a:srgbClr val="F2A03D"/>
                </a:solidFill>
                <a:latin typeface="Lato"/>
              </a:rPr>
              <a:t>TOTAL MONEY ON YOUR RECORD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4650" y="2194470"/>
            <a:ext cx="450532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2100" i="0" u="none">
                <a:solidFill>
                  <a:srgbClr val="FFFFFF"/>
                </a:solidFill>
                <a:latin typeface="Consolas"/>
              </a:rPr>
              <a:t>₹3.73 Cr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72250" y="3851820"/>
            <a:ext cx="1238250" cy="1238250"/>
          </a:xfrm>
          <a:prstGeom prst="roundRect">
            <a:avLst>
              <a:gd name="adj" fmla="val 50000"/>
            </a:avLst>
          </a:prstGeom>
          <a:noFill/>
          <a:ln w="171450">
            <a:solidFill>
              <a:srgbClr val="F2A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2500" y="2168723"/>
            <a:ext cx="486060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241F3D"/>
                </a:solidFill>
                <a:latin typeface="Lato"/>
              </a:rPr>
              <a:t>The hero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2500" y="2444948"/>
            <a:ext cx="46291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A6285"/>
                </a:solidFill>
                <a:latin typeface="Lato"/>
              </a:rPr>
              <a:t>Lifetime total on record, flanked by exact / average / largest transaction figures.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2500" y="2883098"/>
            <a:ext cx="515064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241F3D"/>
                </a:solidFill>
                <a:latin typeface="Lato"/>
              </a:rPr>
              <a:t>Month cards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2500" y="3159323"/>
            <a:ext cx="490537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A6285"/>
                </a:solidFill>
                <a:latin typeface="Lato"/>
              </a:rPr>
              <a:t>This month's spend vs. last month, transaction count, average ticket, categories used, share of lifetime total.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2500" y="3797498"/>
            <a:ext cx="515064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241F3D"/>
                </a:solidFill>
                <a:latin typeface="Lato"/>
              </a:rPr>
              <a:t>Where it went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2500" y="4073723"/>
            <a:ext cx="490537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A6285"/>
                </a:solidFill>
                <a:latin typeface="Lato"/>
              </a:rPr>
              <a:t>A donut of this month's category split, with a legend ranking every category by share.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2500" y="4711898"/>
            <a:ext cx="489061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241F3D"/>
                </a:solidFill>
                <a:latin typeface="Lato"/>
              </a:rPr>
              <a:t>Your months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2500" y="4988123"/>
            <a:ext cx="465772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A6285"/>
                </a:solidFill>
                <a:latin typeface="Lato"/>
              </a:rPr>
              <a:t>A bar chart of up to 18 months of history, with the selected month lit in saffron.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2500" y="5426273"/>
            <a:ext cx="486060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241F3D"/>
                </a:solidFill>
                <a:latin typeface="Lato"/>
              </a:rPr>
              <a:t>Largest this month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2500" y="5702498"/>
            <a:ext cx="46291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A6285"/>
                </a:solidFill>
                <a:latin typeface="Lato"/>
              </a:rPr>
              <a:t>The ten biggest transactions, ranked, each with an inline bar against the largest.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677025" y="2956470"/>
            <a:ext cx="540990" cy="57150"/>
          </a:xfrm>
          <a:prstGeom prst="roundRect">
            <a:avLst>
              <a:gd name="adj" fmla="val 50000"/>
            </a:avLst>
          </a:prstGeom>
          <a:solidFill>
            <a:srgbClr val="F2A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677025" y="3108870"/>
            <a:ext cx="405705" cy="57150"/>
          </a:xfrm>
          <a:prstGeom prst="roundRect">
            <a:avLst>
              <a:gd name="adj" fmla="val 50000"/>
            </a:avLst>
          </a:prstGeom>
          <a:solidFill>
            <a:srgbClr val="2A2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677025" y="3261270"/>
            <a:ext cx="270420" cy="57150"/>
          </a:xfrm>
          <a:prstGeom prst="roundRect">
            <a:avLst>
              <a:gd name="adj" fmla="val 50000"/>
            </a:avLst>
          </a:prstGeom>
          <a:solidFill>
            <a:srgbClr val="2A2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658100" y="2956470"/>
            <a:ext cx="540990" cy="57150"/>
          </a:xfrm>
          <a:prstGeom prst="roundRect">
            <a:avLst>
              <a:gd name="adj" fmla="val 50000"/>
            </a:avLst>
          </a:prstGeom>
          <a:solidFill>
            <a:srgbClr val="E863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658100" y="3108870"/>
            <a:ext cx="405705" cy="57150"/>
          </a:xfrm>
          <a:prstGeom prst="roundRect">
            <a:avLst>
              <a:gd name="adj" fmla="val 50000"/>
            </a:avLst>
          </a:prstGeom>
          <a:solidFill>
            <a:srgbClr val="2A2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658100" y="3261270"/>
            <a:ext cx="270420" cy="57150"/>
          </a:xfrm>
          <a:prstGeom prst="roundRect">
            <a:avLst>
              <a:gd name="adj" fmla="val 50000"/>
            </a:avLst>
          </a:prstGeom>
          <a:solidFill>
            <a:srgbClr val="2A2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639175" y="2956470"/>
            <a:ext cx="540990" cy="57150"/>
          </a:xfrm>
          <a:prstGeom prst="roundRect">
            <a:avLst>
              <a:gd name="adj" fmla="val 50000"/>
            </a:avLst>
          </a:prstGeom>
          <a:solidFill>
            <a:srgbClr val="A78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639175" y="3108870"/>
            <a:ext cx="405705" cy="57150"/>
          </a:xfrm>
          <a:prstGeom prst="roundRect">
            <a:avLst>
              <a:gd name="adj" fmla="val 50000"/>
            </a:avLst>
          </a:prstGeom>
          <a:solidFill>
            <a:srgbClr val="2A2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639175" y="3261270"/>
            <a:ext cx="270420" cy="57150"/>
          </a:xfrm>
          <a:prstGeom prst="roundRect">
            <a:avLst>
              <a:gd name="adj" fmla="val 50000"/>
            </a:avLst>
          </a:prstGeom>
          <a:solidFill>
            <a:srgbClr val="2A2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620250" y="2956470"/>
            <a:ext cx="540990" cy="57150"/>
          </a:xfrm>
          <a:prstGeom prst="roundRect">
            <a:avLst>
              <a:gd name="adj" fmla="val 50000"/>
            </a:avLst>
          </a:prstGeom>
          <a:solidFill>
            <a:srgbClr val="35A7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9620250" y="3108870"/>
            <a:ext cx="405705" cy="57150"/>
          </a:xfrm>
          <a:prstGeom prst="roundRect">
            <a:avLst>
              <a:gd name="adj" fmla="val 50000"/>
            </a:avLst>
          </a:prstGeom>
          <a:solidFill>
            <a:srgbClr val="2A2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9620250" y="3261270"/>
            <a:ext cx="270420" cy="57150"/>
          </a:xfrm>
          <a:prstGeom prst="roundRect">
            <a:avLst>
              <a:gd name="adj" fmla="val 50000"/>
            </a:avLst>
          </a:prstGeom>
          <a:solidFill>
            <a:srgbClr val="2A2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10601325" y="2956470"/>
            <a:ext cx="540990" cy="57150"/>
          </a:xfrm>
          <a:prstGeom prst="roundRect">
            <a:avLst>
              <a:gd name="adj" fmla="val 50000"/>
            </a:avLst>
          </a:prstGeom>
          <a:solidFill>
            <a:srgbClr val="46B0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10601325" y="3108870"/>
            <a:ext cx="405705" cy="57150"/>
          </a:xfrm>
          <a:prstGeom prst="roundRect">
            <a:avLst>
              <a:gd name="adj" fmla="val 50000"/>
            </a:avLst>
          </a:prstGeom>
          <a:solidFill>
            <a:srgbClr val="2A2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0601325" y="3261270"/>
            <a:ext cx="270420" cy="57150"/>
          </a:xfrm>
          <a:prstGeom prst="roundRect">
            <a:avLst>
              <a:gd name="adj" fmla="val 50000"/>
            </a:avLst>
          </a:prstGeom>
          <a:solidFill>
            <a:srgbClr val="2A2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8096250" y="4594770"/>
            <a:ext cx="238125" cy="495300"/>
          </a:xfrm>
          <a:prstGeom prst="roundRect">
            <a:avLst>
              <a:gd name="adj" fmla="val 16000"/>
            </a:avLst>
          </a:prstGeom>
          <a:solidFill>
            <a:srgbClr val="35A7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8410575" y="4285208"/>
            <a:ext cx="238125" cy="804862"/>
          </a:xfrm>
          <a:prstGeom prst="roundRect">
            <a:avLst>
              <a:gd name="adj" fmla="val 16000"/>
            </a:avLst>
          </a:prstGeom>
          <a:solidFill>
            <a:srgbClr val="35A7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8724900" y="4718595"/>
            <a:ext cx="238125" cy="371475"/>
          </a:xfrm>
          <a:prstGeom prst="roundRect">
            <a:avLst>
              <a:gd name="adj" fmla="val 16000"/>
            </a:avLst>
          </a:prstGeom>
          <a:solidFill>
            <a:srgbClr val="35A7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9039225" y="3975645"/>
            <a:ext cx="238125" cy="1114425"/>
          </a:xfrm>
          <a:prstGeom prst="roundRect">
            <a:avLst>
              <a:gd name="adj" fmla="val 16000"/>
            </a:avLst>
          </a:prstGeom>
          <a:solidFill>
            <a:srgbClr val="35A7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9353550" y="4470945"/>
            <a:ext cx="238125" cy="619125"/>
          </a:xfrm>
          <a:prstGeom prst="roundRect">
            <a:avLst>
              <a:gd name="adj" fmla="val 16000"/>
            </a:avLst>
          </a:prstGeom>
          <a:solidFill>
            <a:srgbClr val="F2A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9667875" y="4099470"/>
            <a:ext cx="238125" cy="990600"/>
          </a:xfrm>
          <a:prstGeom prst="roundRect">
            <a:avLst>
              <a:gd name="adj" fmla="val 16000"/>
            </a:avLst>
          </a:prstGeom>
          <a:solidFill>
            <a:srgbClr val="35A7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169616"/>
            <a:ext cx="5286375" cy="477768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2169616"/>
            <a:ext cx="5286375" cy="477768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5125" y="3560266"/>
            <a:ext cx="2166937" cy="10953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2562" y="3560266"/>
            <a:ext cx="2166937" cy="10953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15125" y="5821263"/>
            <a:ext cx="373409" cy="228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31409" y="5821263"/>
            <a:ext cx="373409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47694" y="5821263"/>
            <a:ext cx="373409" cy="228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63979" y="5821263"/>
            <a:ext cx="579239" cy="2286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52500" y="3769816"/>
            <a:ext cx="4524375" cy="952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52500" y="4265116"/>
            <a:ext cx="4524375" cy="952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52500" y="4760416"/>
            <a:ext cx="4524375" cy="952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52500" y="5255716"/>
            <a:ext cx="4524375" cy="952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571500"/>
            <a:ext cx="110490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2A03D"/>
                </a:solidFill>
                <a:latin typeface="Lato"/>
              </a:rPr>
              <a:t>DASHBOARD · BUDGETS &amp; INSIGHTS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" y="876300"/>
            <a:ext cx="11601450" cy="9599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b="1" sz="3150" i="0" u="none">
                <a:solidFill>
                  <a:srgbClr val="FFFFFF"/>
                </a:solidFill>
                <a:latin typeface="Merriweather"/>
              </a:rPr>
              <a:t>Limits that recompute themselves, and a mart that flags what matters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" y="6410325"/>
            <a:ext cx="110490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A93B8"/>
                </a:solidFill>
                <a:latin typeface="Lato"/>
              </a:rPr>
              <a:t>WealthWizard · Dashboard</a:t>
            </a:r>
            <a:r>
              <a:rPr b="0" sz="1050" i="0" u="none">
                <a:solidFill>
                  <a:srgbClr val="9A93B8"/>
                </a:solidFill>
                <a:latin typeface="Lato"/>
              </a:rPr>
              <a:t> </a:t>
            </a:r>
            <a:r>
              <a:rPr b="0" sz="1050" i="0" u="none">
                <a:solidFill>
                  <a:srgbClr val="9A93B8"/>
                </a:solidFill>
                <a:latin typeface="Lato"/>
              </a:rPr>
              <a:t>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2500" y="3074491"/>
            <a:ext cx="452437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9A93B8"/>
                </a:solidFill>
                <a:latin typeface="Lato"/>
              </a:rPr>
              <a:t>3,278 of 4,434 accounts carry at least one envelope.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52500" y="5636716"/>
            <a:ext cx="4524375" cy="9525"/>
          </a:xfrm>
          <a:prstGeom prst="rect">
            <a:avLst/>
          </a:prstGeom>
          <a:solidFill>
            <a:srgbClr val="2A2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2500" y="5836741"/>
            <a:ext cx="4524375" cy="319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1" u="none">
                <a:solidFill>
                  <a:srgbClr val="F2A03D"/>
                </a:solidFill>
                <a:latin typeface="Lato"/>
              </a:rPr>
              <a:t>Utilisation is recomputed from real transactions — stored ACTUAL_SPEND is 0 on 6,163 of 6,170 rows, so it is shown for reference only.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2500" y="6251971"/>
            <a:ext cx="45243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9A93B8"/>
                </a:solidFill>
                <a:latin typeface="Lato"/>
              </a:rPr>
              <a:t>5 budget alerts on record — every one raised at 'over', no warning tier exists.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15125" y="3074491"/>
            <a:ext cx="452437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9A93B8"/>
                </a:solidFill>
                <a:latin typeface="Lato"/>
              </a:rPr>
              <a:t>23,956 rows on the mart — filterable by kind and severity, exportable as CSV.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15125" y="5036641"/>
            <a:ext cx="4524375" cy="9525"/>
          </a:xfrm>
          <a:prstGeom prst="rect">
            <a:avLst/>
          </a:prstGeom>
          <a:solidFill>
            <a:srgbClr val="2A2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15125" y="5236666"/>
            <a:ext cx="4524375" cy="3464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EAE7F5"/>
                </a:solidFill>
                <a:latin typeface="Lato"/>
              </a:rPr>
              <a:t>Each row shows its kind, a severity chip, what it says, and when it was raised — sorted most severe first.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52500" y="2550616"/>
            <a:ext cx="428625" cy="428625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524000" y="2631578"/>
            <a:ext cx="890111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FFFFFF"/>
                </a:solidFill>
                <a:latin typeface="Merriweather"/>
              </a:rPr>
              <a:t>Budgets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15125" y="2550616"/>
            <a:ext cx="428625" cy="428625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286625" y="2631578"/>
            <a:ext cx="92011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FFFFFF"/>
                </a:solidFill>
                <a:latin typeface="Merriweather"/>
              </a:rPr>
              <a:t>Insights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90612" y="2688728"/>
            <a:ext cx="152400" cy="1524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52500" y="3560266"/>
            <a:ext cx="452437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EAE7F5"/>
                </a:solidFill>
                <a:latin typeface="Lato"/>
              </a:rPr>
              <a:t>Groceries</a:t>
            </a:r>
            <a:r>
              <a:rPr b="0" sz="1200" i="0" u="none">
                <a:latin typeface="Lato"/>
              </a:rPr>
              <a:t>82%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2500" y="4055566"/>
            <a:ext cx="452437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EAE7F5"/>
                </a:solidFill>
                <a:latin typeface="Lato"/>
              </a:rPr>
              <a:t>Travel</a:t>
            </a:r>
            <a:r>
              <a:rPr b="0" sz="1200" i="0" u="none">
                <a:latin typeface="Lato"/>
              </a:rPr>
              <a:t>108%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2500" y="4550866"/>
            <a:ext cx="452437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EAE7F5"/>
                </a:solidFill>
                <a:latin typeface="Lato"/>
              </a:rPr>
              <a:t>Utilities</a:t>
            </a:r>
            <a:r>
              <a:rPr b="0" sz="1200" i="0" u="none">
                <a:latin typeface="Lato"/>
              </a:rPr>
              <a:t>55%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2500" y="5046166"/>
            <a:ext cx="452437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EAE7F5"/>
                </a:solidFill>
                <a:latin typeface="Lato"/>
              </a:rPr>
              <a:t>Dining out</a:t>
            </a:r>
            <a:r>
              <a:rPr b="0" sz="1200" i="0" u="none">
                <a:latin typeface="Lato"/>
              </a:rPr>
              <a:t>94%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872287" y="2688728"/>
            <a:ext cx="114300" cy="1524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915150" y="3760291"/>
            <a:ext cx="1766887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E8637F"/>
                </a:solidFill>
                <a:latin typeface="Consolas"/>
              </a:rPr>
              <a:t>13,854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15150" y="4169866"/>
            <a:ext cx="1766887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9A93B8"/>
                </a:solidFill>
                <a:latin typeface="Lato"/>
              </a:rPr>
              <a:t>generated in the mart — graded, severity 2–5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72587" y="3760291"/>
            <a:ext cx="1766887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9A93B8"/>
                </a:solidFill>
                <a:latin typeface="Consolas"/>
              </a:rPr>
              <a:t>10,102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72587" y="4169866"/>
            <a:ext cx="1766887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9A93B8"/>
                </a:solidFill>
                <a:latin typeface="Lato"/>
              </a:rPr>
              <a:t>loaded from staging — shown as "ungraded," never hidden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52500" y="3769816"/>
            <a:ext cx="3709987" cy="95250"/>
          </a:xfrm>
          <a:prstGeom prst="rect">
            <a:avLst/>
          </a:prstGeom>
          <a:solidFill>
            <a:srgbClr val="46B0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52500" y="4265116"/>
            <a:ext cx="4524375" cy="95250"/>
          </a:xfrm>
          <a:prstGeom prst="rect">
            <a:avLst/>
          </a:prstGeom>
          <a:solidFill>
            <a:srgbClr val="E863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52500" y="4760416"/>
            <a:ext cx="2488406" cy="95250"/>
          </a:xfrm>
          <a:prstGeom prst="rect">
            <a:avLst/>
          </a:prstGeom>
          <a:solidFill>
            <a:srgbClr val="46B0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52500" y="5255716"/>
            <a:ext cx="4252912" cy="95250"/>
          </a:xfrm>
          <a:prstGeom prst="rect">
            <a:avLst/>
          </a:prstGeom>
          <a:solidFill>
            <a:srgbClr val="F2A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1689645"/>
            <a:ext cx="5286375" cy="4596854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378273"/>
            <a:ext cx="428625" cy="4286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092648"/>
            <a:ext cx="428625" cy="4286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007048"/>
            <a:ext cx="428625" cy="4286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921448"/>
            <a:ext cx="428625" cy="4286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1500" y="571500"/>
            <a:ext cx="110490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B4690E"/>
                </a:solidFill>
                <a:latin typeface="Lato"/>
              </a:rPr>
              <a:t>DASHBOARD · AI INTEGRATION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876300"/>
            <a:ext cx="11601450" cy="479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b="1" sz="3150" i="0" u="none">
                <a:solidFill>
                  <a:srgbClr val="241F3D"/>
                </a:solidFill>
                <a:latin typeface="Merriweather"/>
              </a:rPr>
              <a:t>"Ask WealthWizard" — grounded, not guessing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6410325"/>
            <a:ext cx="110490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A6285"/>
                </a:solidFill>
                <a:latin typeface="Lato"/>
              </a:rPr>
              <a:t>WealthWizard · Dashboard</a:t>
            </a:r>
            <a:r>
              <a:rPr b="0" sz="1050" i="0" u="none">
                <a:solidFill>
                  <a:srgbClr val="6A6285"/>
                </a:solidFill>
                <a:latin typeface="Lato"/>
              </a:rPr>
              <a:t> </a:t>
            </a:r>
            <a:r>
              <a:rPr b="0" sz="1050" i="0" u="none">
                <a:solidFill>
                  <a:srgbClr val="6A6285"/>
                </a:solidFill>
                <a:latin typeface="Lato"/>
              </a:rPr>
              <a:t>16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15125" y="2171104"/>
            <a:ext cx="476250" cy="4762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715125" y="2837854"/>
            <a:ext cx="4750593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241F3D"/>
                </a:solidFill>
                <a:latin typeface="Merriweather"/>
              </a:rPr>
              <a:t>The Gemini key never reaches the browser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15125" y="3218854"/>
            <a:ext cx="4524375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EAE7F5"/>
                </a:solidFill>
                <a:latin typeface="Lato"/>
              </a:rPr>
              <a:t>The key comes from a Snowflake secret or config.py, and the call happens with urllib from inside the same Streamlit process that renders the page — there is no separate service to deploy or secure.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15125" y="4147542"/>
            <a:ext cx="4524375" cy="9525"/>
          </a:xfrm>
          <a:prstGeom prst="rect">
            <a:avLst/>
          </a:prstGeom>
          <a:solidFill>
            <a:srgbClr val="2A2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15125" y="4347567"/>
            <a:ext cx="4524375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F2A03D"/>
                </a:solidFill>
                <a:latin typeface="Lato"/>
              </a:rPr>
              <a:t>Every generated SELECT is checked for a single statement, no write keywords, and a filter on this member's own USER_ID before it is allowed to run.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5233392"/>
            <a:ext cx="43815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1" u="none">
                <a:solidFill>
                  <a:srgbClr val="F0BE7A"/>
                </a:solidFill>
                <a:latin typeface="Lato"/>
              </a:rPr>
              <a:t>"Groceries are at ₹9,800 against a ₹12,000 budget this month — 82% used, comfortably on track."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15125" y="5233392"/>
            <a:ext cx="28575" cy="428625"/>
          </a:xfrm>
          <a:prstGeom prst="rect">
            <a:avLst/>
          </a:prstGeom>
          <a:solidFill>
            <a:srgbClr val="F0B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0" y="2313979"/>
            <a:ext cx="190500" cy="1905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190625" y="2378273"/>
            <a:ext cx="446055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241F3D"/>
                </a:solidFill>
                <a:latin typeface="Lato"/>
              </a:rPr>
              <a:t>Member asks a question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90625" y="2654498"/>
            <a:ext cx="42481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A6285"/>
                </a:solidFill>
                <a:latin typeface="Lato"/>
              </a:rPr>
              <a:t>"How's my Travel spend this month?" — typed, or picked from an opener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90625" y="3092648"/>
            <a:ext cx="49006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241F3D"/>
                </a:solidFill>
                <a:latin typeface="Lato"/>
              </a:rPr>
              <a:t>Gemini decides the shape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90625" y="3368873"/>
            <a:ext cx="46672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A6285"/>
                </a:solidFill>
                <a:latin typeface="Lato"/>
              </a:rPr>
              <a:t>General knowledge answers directly; a data question returns one proposed SQL statement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90625" y="4007048"/>
            <a:ext cx="49006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241F3D"/>
                </a:solidFill>
                <a:latin typeface="Lato"/>
              </a:rPr>
              <a:t>The app guards and runs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90625" y="4283273"/>
            <a:ext cx="46672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A6285"/>
                </a:solidFill>
                <a:latin typeface="Lato"/>
              </a:rPr>
              <a:t>One read-only SELECT, fully qualified, scoped to this member — one retry if it fails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90625" y="4921448"/>
            <a:ext cx="49006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241F3D"/>
                </a:solidFill>
                <a:latin typeface="Lato"/>
              </a:rPr>
              <a:t>Gemini writes the answer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90625" y="5197673"/>
            <a:ext cx="46672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A6285"/>
                </a:solidFill>
                <a:latin typeface="Lato"/>
              </a:rPr>
              <a:t>Rows go back to Gemini for 2–4 plain sentences in rupees; the SQL is shown in an expander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110490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2A03D"/>
                </a:solidFill>
                <a:latin typeface="Lato"/>
              </a:rPr>
              <a:t>ENGINEERING RIGOR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876300"/>
            <a:ext cx="11601450" cy="479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b="1" sz="3150" i="0" u="none">
                <a:solidFill>
                  <a:srgbClr val="FFFFFF"/>
                </a:solidFill>
                <a:latin typeface="Merriweather"/>
              </a:rPr>
              <a:t>Known data conditions, handled transparently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1689645"/>
            <a:ext cx="11049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1" u="none">
                <a:solidFill>
                  <a:srgbClr val="9A93B8"/>
                </a:solidFill>
                <a:latin typeface="Lato"/>
              </a:rPr>
              <a:t>The mart is not perfectly clean — the app names each limitation and works around it in the open, rather than hiding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6410325"/>
            <a:ext cx="110490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A93B8"/>
                </a:solidFill>
                <a:latin typeface="Lato"/>
              </a:rPr>
              <a:t>WealthWizard · Database Pipeline</a:t>
            </a:r>
            <a:r>
              <a:rPr b="0" sz="1050" i="0" u="none">
                <a:solidFill>
                  <a:srgbClr val="9A93B8"/>
                </a:solidFill>
                <a:latin typeface="Lato"/>
              </a:rPr>
              <a:t> </a:t>
            </a:r>
            <a:r>
              <a:rPr b="0" sz="1050" i="0" u="none">
                <a:solidFill>
                  <a:srgbClr val="9A93B8"/>
                </a:solidFill>
                <a:latin typeface="Lato"/>
              </a:rPr>
              <a:t>17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71500" y="2203995"/>
          <a:ext cx="11049000" cy="4082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3314700"/>
                <a:gridCol w="3867150"/>
                <a:gridCol w="3867150"/>
              </a:tblGrid>
              <a:tr h="816500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F2A03D"/>
                          </a:solidFill>
                          <a:latin typeface="Lato"/>
                        </a:rPr>
                        <a:t>Budget spend stored as 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1D3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E8637F"/>
                          </a:solidFill>
                          <a:latin typeface="Lato"/>
                        </a:rPr>
                        <a:t>6,163 of 6,170 FACT_BUDGET rows carry ACTUAL_SPEND = 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1D3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6B08D"/>
                          </a:solidFill>
                          <a:latin typeface="Lato"/>
                        </a:rPr>
                        <a:t>Recomputed live from FACT_TRANSACTION on every load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1D3F"/>
                    </a:solidFill>
                  </a:tcPr>
                </a:tc>
              </a:tr>
              <a:tr h="816500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F2A03D"/>
                          </a:solidFill>
                          <a:latin typeface="Lato"/>
                        </a:rPr>
                        <a:t>Budget period unreliable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1D3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E8637F"/>
                          </a:solidFill>
                          <a:latin typeface="Lato"/>
                        </a:rPr>
                        <a:t>Only 501 of 6,170 rows match DIM_DATE; bad periods fall back to 1970-01-01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1D3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6B08D"/>
                          </a:solidFill>
                          <a:latin typeface="Lato"/>
                        </a:rPr>
                        <a:t>Year and month derived arithmetically from the stored key instead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1D3F"/>
                    </a:solidFill>
                  </a:tcPr>
                </a:tc>
              </a:tr>
              <a:tr h="816500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F2A03D"/>
                          </a:solidFill>
                          <a:latin typeface="Lato"/>
                        </a:rPr>
                        <a:t>Insight severity missing at scale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1D3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E8637F"/>
                          </a:solidFill>
                          <a:latin typeface="Lato"/>
                        </a:rPr>
                        <a:t>10,102 of 23,956 insights carry no severity — the rows loaded from staging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1D3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6B08D"/>
                          </a:solidFill>
                          <a:latin typeface="Lato"/>
                        </a:rPr>
                        <a:t>Shown as "ungraded" in its own filter, never hidden or guessed at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1D3F"/>
                    </a:solidFill>
                  </a:tcPr>
                </a:tc>
              </a:tr>
              <a:tr h="816500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F2A03D"/>
                          </a:solidFill>
                          <a:latin typeface="Lato"/>
                        </a:rPr>
                        <a:t>Expense-only ledger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1D3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E8637F"/>
                          </a:solidFill>
                          <a:latin typeface="Lato"/>
                        </a:rPr>
                        <a:t>TXN_TYPE is 'expense' on all 78,155 rows — there is no income or savings figure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1D3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6B08D"/>
                          </a:solidFill>
                          <a:latin typeface="Lato"/>
                        </a:rPr>
                        <a:t>The assistant is instructed never to imply a savings rate exists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1D3F"/>
                    </a:solidFill>
                  </a:tcPr>
                </a:tc>
              </a:tr>
              <a:tr h="816504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F2A03D"/>
                          </a:solidFill>
                          <a:latin typeface="Lato"/>
                        </a:rPr>
                        <a:t>Sign-in identifies, not authenticates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1D3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E8637F"/>
                          </a:solidFill>
                          <a:latin typeface="Lato"/>
                        </a:rPr>
                        <a:t>Any valid member id opens that account — there is no password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1D3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6B08D"/>
                          </a:solidFill>
                          <a:latin typeface="Lato"/>
                        </a:rPr>
                        <a:t>The interface says so plainly, right on the sign-in screen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1D3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71500" y="2991891"/>
            <a:ext cx="3314700" cy="9525"/>
          </a:xfrm>
          <a:prstGeom prst="rect">
            <a:avLst/>
          </a:prstGeom>
          <a:solidFill>
            <a:srgbClr val="2A2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1500" y="2299245"/>
            <a:ext cx="3314700" cy="9525"/>
          </a:xfrm>
          <a:prstGeom prst="rect">
            <a:avLst/>
          </a:prstGeom>
          <a:solidFill>
            <a:srgbClr val="2A2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1500" y="2299245"/>
            <a:ext cx="9525" cy="702171"/>
          </a:xfrm>
          <a:prstGeom prst="rect">
            <a:avLst/>
          </a:prstGeom>
          <a:solidFill>
            <a:srgbClr val="2A2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86200" y="2991891"/>
            <a:ext cx="3867150" cy="9525"/>
          </a:xfrm>
          <a:prstGeom prst="rect">
            <a:avLst/>
          </a:prstGeom>
          <a:solidFill>
            <a:srgbClr val="2A2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86200" y="2299245"/>
            <a:ext cx="3867150" cy="9525"/>
          </a:xfrm>
          <a:prstGeom prst="rect">
            <a:avLst/>
          </a:prstGeom>
          <a:solidFill>
            <a:srgbClr val="2A2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53350" y="2991891"/>
            <a:ext cx="3867150" cy="9525"/>
          </a:xfrm>
          <a:prstGeom prst="rect">
            <a:avLst/>
          </a:prstGeom>
          <a:solidFill>
            <a:srgbClr val="2A2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53350" y="2299245"/>
            <a:ext cx="3867150" cy="9525"/>
          </a:xfrm>
          <a:prstGeom prst="rect">
            <a:avLst/>
          </a:prstGeom>
          <a:solidFill>
            <a:srgbClr val="2A2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610975" y="2299245"/>
            <a:ext cx="9525" cy="702171"/>
          </a:xfrm>
          <a:prstGeom prst="rect">
            <a:avLst/>
          </a:prstGeom>
          <a:solidFill>
            <a:srgbClr val="2A2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71500" y="3789312"/>
            <a:ext cx="3314700" cy="9525"/>
          </a:xfrm>
          <a:prstGeom prst="rect">
            <a:avLst/>
          </a:prstGeom>
          <a:solidFill>
            <a:srgbClr val="2A2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1500" y="3096666"/>
            <a:ext cx="3314700" cy="9525"/>
          </a:xfrm>
          <a:prstGeom prst="rect">
            <a:avLst/>
          </a:prstGeom>
          <a:solidFill>
            <a:srgbClr val="2A2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71500" y="3096666"/>
            <a:ext cx="9525" cy="702171"/>
          </a:xfrm>
          <a:prstGeom prst="rect">
            <a:avLst/>
          </a:prstGeom>
          <a:solidFill>
            <a:srgbClr val="2A2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86200" y="3789312"/>
            <a:ext cx="3867150" cy="9525"/>
          </a:xfrm>
          <a:prstGeom prst="rect">
            <a:avLst/>
          </a:prstGeom>
          <a:solidFill>
            <a:srgbClr val="2A2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886200" y="3096666"/>
            <a:ext cx="3867150" cy="9525"/>
          </a:xfrm>
          <a:prstGeom prst="rect">
            <a:avLst/>
          </a:prstGeom>
          <a:solidFill>
            <a:srgbClr val="2A2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53350" y="3789312"/>
            <a:ext cx="3867150" cy="9525"/>
          </a:xfrm>
          <a:prstGeom prst="rect">
            <a:avLst/>
          </a:prstGeom>
          <a:solidFill>
            <a:srgbClr val="2A2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53350" y="3096666"/>
            <a:ext cx="3867150" cy="9525"/>
          </a:xfrm>
          <a:prstGeom prst="rect">
            <a:avLst/>
          </a:prstGeom>
          <a:solidFill>
            <a:srgbClr val="2A2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610975" y="3096666"/>
            <a:ext cx="9525" cy="702171"/>
          </a:xfrm>
          <a:prstGeom prst="rect">
            <a:avLst/>
          </a:prstGeom>
          <a:solidFill>
            <a:srgbClr val="2A2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71500" y="4586733"/>
            <a:ext cx="3314700" cy="9525"/>
          </a:xfrm>
          <a:prstGeom prst="rect">
            <a:avLst/>
          </a:prstGeom>
          <a:solidFill>
            <a:srgbClr val="2A2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71500" y="3894087"/>
            <a:ext cx="3314700" cy="9525"/>
          </a:xfrm>
          <a:prstGeom prst="rect">
            <a:avLst/>
          </a:prstGeom>
          <a:solidFill>
            <a:srgbClr val="2A2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71500" y="3894087"/>
            <a:ext cx="9525" cy="702171"/>
          </a:xfrm>
          <a:prstGeom prst="rect">
            <a:avLst/>
          </a:prstGeom>
          <a:solidFill>
            <a:srgbClr val="2A2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886200" y="4586733"/>
            <a:ext cx="3867150" cy="9525"/>
          </a:xfrm>
          <a:prstGeom prst="rect">
            <a:avLst/>
          </a:prstGeom>
          <a:solidFill>
            <a:srgbClr val="2A2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886200" y="3894087"/>
            <a:ext cx="3867150" cy="9525"/>
          </a:xfrm>
          <a:prstGeom prst="rect">
            <a:avLst/>
          </a:prstGeom>
          <a:solidFill>
            <a:srgbClr val="2A2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53350" y="4586733"/>
            <a:ext cx="3867150" cy="9525"/>
          </a:xfrm>
          <a:prstGeom prst="rect">
            <a:avLst/>
          </a:prstGeom>
          <a:solidFill>
            <a:srgbClr val="2A2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53350" y="3894087"/>
            <a:ext cx="3867150" cy="9525"/>
          </a:xfrm>
          <a:prstGeom prst="rect">
            <a:avLst/>
          </a:prstGeom>
          <a:solidFill>
            <a:srgbClr val="2A2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1610975" y="3894087"/>
            <a:ext cx="9525" cy="702171"/>
          </a:xfrm>
          <a:prstGeom prst="rect">
            <a:avLst/>
          </a:prstGeom>
          <a:solidFill>
            <a:srgbClr val="2A2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71500" y="5384155"/>
            <a:ext cx="3314700" cy="9525"/>
          </a:xfrm>
          <a:prstGeom prst="rect">
            <a:avLst/>
          </a:prstGeom>
          <a:solidFill>
            <a:srgbClr val="2A2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71500" y="4691508"/>
            <a:ext cx="3314700" cy="9525"/>
          </a:xfrm>
          <a:prstGeom prst="rect">
            <a:avLst/>
          </a:prstGeom>
          <a:solidFill>
            <a:srgbClr val="2A2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71500" y="4691508"/>
            <a:ext cx="9525" cy="702171"/>
          </a:xfrm>
          <a:prstGeom prst="rect">
            <a:avLst/>
          </a:prstGeom>
          <a:solidFill>
            <a:srgbClr val="2A2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886200" y="5384155"/>
            <a:ext cx="3867150" cy="9525"/>
          </a:xfrm>
          <a:prstGeom prst="rect">
            <a:avLst/>
          </a:prstGeom>
          <a:solidFill>
            <a:srgbClr val="2A2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886200" y="4691508"/>
            <a:ext cx="3867150" cy="9525"/>
          </a:xfrm>
          <a:prstGeom prst="rect">
            <a:avLst/>
          </a:prstGeom>
          <a:solidFill>
            <a:srgbClr val="2A2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753350" y="5384155"/>
            <a:ext cx="3867150" cy="9525"/>
          </a:xfrm>
          <a:prstGeom prst="rect">
            <a:avLst/>
          </a:prstGeom>
          <a:solidFill>
            <a:srgbClr val="2A2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53350" y="4691508"/>
            <a:ext cx="3867150" cy="9525"/>
          </a:xfrm>
          <a:prstGeom prst="rect">
            <a:avLst/>
          </a:prstGeom>
          <a:solidFill>
            <a:srgbClr val="2A2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610975" y="4691508"/>
            <a:ext cx="9525" cy="702171"/>
          </a:xfrm>
          <a:prstGeom prst="rect">
            <a:avLst/>
          </a:prstGeom>
          <a:solidFill>
            <a:srgbClr val="2A2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71500" y="6181725"/>
            <a:ext cx="3314700" cy="9525"/>
          </a:xfrm>
          <a:prstGeom prst="rect">
            <a:avLst/>
          </a:prstGeom>
          <a:solidFill>
            <a:srgbClr val="2A2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71500" y="5488930"/>
            <a:ext cx="3314700" cy="9525"/>
          </a:xfrm>
          <a:prstGeom prst="rect">
            <a:avLst/>
          </a:prstGeom>
          <a:solidFill>
            <a:srgbClr val="2A2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71500" y="5488930"/>
            <a:ext cx="9525" cy="702319"/>
          </a:xfrm>
          <a:prstGeom prst="rect">
            <a:avLst/>
          </a:prstGeom>
          <a:solidFill>
            <a:srgbClr val="2A2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886200" y="6181725"/>
            <a:ext cx="3867150" cy="9525"/>
          </a:xfrm>
          <a:prstGeom prst="rect">
            <a:avLst/>
          </a:prstGeom>
          <a:solidFill>
            <a:srgbClr val="2A2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886200" y="5488930"/>
            <a:ext cx="3867150" cy="9525"/>
          </a:xfrm>
          <a:prstGeom prst="rect">
            <a:avLst/>
          </a:prstGeom>
          <a:solidFill>
            <a:srgbClr val="2A2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753350" y="6181725"/>
            <a:ext cx="3867150" cy="9525"/>
          </a:xfrm>
          <a:prstGeom prst="rect">
            <a:avLst/>
          </a:prstGeom>
          <a:solidFill>
            <a:srgbClr val="2A2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753350" y="5488930"/>
            <a:ext cx="3867150" cy="9525"/>
          </a:xfrm>
          <a:prstGeom prst="rect">
            <a:avLst/>
          </a:prstGeom>
          <a:solidFill>
            <a:srgbClr val="2A2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1610975" y="5488930"/>
            <a:ext cx="9525" cy="702319"/>
          </a:xfrm>
          <a:prstGeom prst="rect">
            <a:avLst/>
          </a:prstGeom>
          <a:solidFill>
            <a:srgbClr val="2A2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689645"/>
            <a:ext cx="3492400" cy="4596854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650" y="1689645"/>
            <a:ext cx="3492549" cy="4596854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7950" y="1689645"/>
            <a:ext cx="3492400" cy="459685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571500"/>
            <a:ext cx="110490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B4690E"/>
                </a:solidFill>
                <a:latin typeface="Lato"/>
              </a:rPr>
              <a:t>UNDER THE HOOD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876300"/>
            <a:ext cx="11601450" cy="479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b="1" sz="3150" i="0" u="none">
                <a:solidFill>
                  <a:srgbClr val="241F3D"/>
                </a:solidFill>
                <a:latin typeface="Merriweather"/>
              </a:rPr>
              <a:t>The full technology 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6410325"/>
            <a:ext cx="110490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A6285"/>
                </a:solidFill>
                <a:latin typeface="Lato"/>
              </a:rPr>
              <a:t>WealthWizard · Technology</a:t>
            </a:r>
            <a:r>
              <a:rPr b="0" sz="1050" i="0" u="none">
                <a:solidFill>
                  <a:srgbClr val="6A6285"/>
                </a:solidFill>
                <a:latin typeface="Lato"/>
              </a:rPr>
              <a:t> </a:t>
            </a:r>
            <a:r>
              <a:rPr b="0" sz="1050" i="0" u="none">
                <a:solidFill>
                  <a:srgbClr val="6A6285"/>
                </a:solidFill>
                <a:latin typeface="Lato"/>
              </a:rPr>
              <a:t>18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4875" y="2023020"/>
            <a:ext cx="476250" cy="47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04875" y="2737395"/>
            <a:ext cx="2966933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241F3D"/>
                </a:solidFill>
                <a:latin typeface="Merriweather"/>
              </a:rPr>
              <a:t>Cloud Data Platform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3025" y="2023020"/>
            <a:ext cx="476250" cy="4762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683025" y="2737395"/>
            <a:ext cx="2967089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241F3D"/>
                </a:solidFill>
                <a:latin typeface="Merriweather"/>
              </a:rPr>
              <a:t>Streamlit Application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1325" y="2023020"/>
            <a:ext cx="476250" cy="4762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461325" y="2737395"/>
            <a:ext cx="2966933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241F3D"/>
                </a:solidFill>
                <a:latin typeface="Merriweather"/>
              </a:rPr>
              <a:t>Design System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7275" y="2165895"/>
            <a:ext cx="171450" cy="1905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04875" y="3213645"/>
            <a:ext cx="28256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EAE7F5"/>
                </a:solidFill>
                <a:latin typeface="Lato"/>
              </a:rPr>
              <a:t> Snowflake (RAW/STAGE/MART/ANALYTICS)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4875" y="3727995"/>
            <a:ext cx="28256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EAE7F5"/>
                </a:solidFill>
                <a:latin typeface="Lato"/>
              </a:rPr>
              <a:t> Streams, Tasks, Snowpipe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4875" y="4080420"/>
            <a:ext cx="28256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EAE7F5"/>
                </a:solidFill>
                <a:latin typeface="Lato"/>
              </a:rPr>
              <a:t> Amazon S3 + Storage Integration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02088" y="2165895"/>
            <a:ext cx="238125" cy="1905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683025" y="3213645"/>
            <a:ext cx="2825799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EAE7F5"/>
                </a:solidFill>
                <a:latin typeface="Lato"/>
              </a:rPr>
              <a:t> Python + Streamlit, one process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83025" y="3566070"/>
            <a:ext cx="2825799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EAE7F5"/>
                </a:solidFill>
                <a:latin typeface="Lato"/>
              </a:rPr>
              <a:t> st.connection("snowflake") + st.cache_data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83025" y="3918495"/>
            <a:ext cx="2825799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EAE7F5"/>
                </a:solidFill>
                <a:latin typeface="Lato"/>
              </a:rPr>
              <a:t> Google Gemini API, called server-side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89912" y="2165895"/>
            <a:ext cx="219075" cy="1905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461325" y="3213645"/>
            <a:ext cx="28256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EAE7F5"/>
                </a:solidFill>
                <a:latin typeface="Lato"/>
              </a:rPr>
              <a:t> Custom CSS theme, tokens as variables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61325" y="3566070"/>
            <a:ext cx="28256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EAE7F5"/>
                </a:solidFill>
                <a:latin typeface="Lato"/>
              </a:rPr>
              <a:t> Split-flap board for headline totals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61325" y="3918495"/>
            <a:ext cx="28256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EAE7F5"/>
                </a:solidFill>
                <a:latin typeface="Lato"/>
              </a:rPr>
              <a:t> Light / dark mode, swapped at runtime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689645"/>
            <a:ext cx="2619375" cy="4596854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1375" y="1689645"/>
            <a:ext cx="2619375" cy="4596854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0" y="1689645"/>
            <a:ext cx="2619375" cy="4596854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1125" y="1689645"/>
            <a:ext cx="2619375" cy="459685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571500"/>
            <a:ext cx="110490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B4690E"/>
                </a:solidFill>
                <a:latin typeface="Lato"/>
              </a:rPr>
              <a:t>WHAT'S NEXT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876300"/>
            <a:ext cx="11601450" cy="479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b="1" sz="3150" i="0" u="none">
                <a:solidFill>
                  <a:srgbClr val="241F3D"/>
                </a:solidFill>
                <a:latin typeface="Merriweather"/>
              </a:rPr>
              <a:t>Where WealthWizard goes from here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6410325"/>
            <a:ext cx="110490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A6285"/>
                </a:solidFill>
                <a:latin typeface="Lato"/>
              </a:rPr>
              <a:t>WealthWizard · Roadmap</a:t>
            </a:r>
            <a:r>
              <a:rPr b="0" sz="1050" i="0" u="none">
                <a:solidFill>
                  <a:srgbClr val="6A6285"/>
                </a:solidFill>
                <a:latin typeface="Lato"/>
              </a:rPr>
              <a:t> </a:t>
            </a:r>
            <a:r>
              <a:rPr b="0" sz="1050" i="0" u="none">
                <a:solidFill>
                  <a:srgbClr val="6A6285"/>
                </a:solidFill>
                <a:latin typeface="Lato"/>
              </a:rPr>
              <a:t>19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3062" y="1975395"/>
            <a:ext cx="476250" cy="4762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51046" y="2642145"/>
            <a:ext cx="2260282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241F3D"/>
                </a:solidFill>
                <a:latin typeface="Merriweather"/>
              </a:rPr>
              <a:t>Real member authentication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2975520"/>
            <a:ext cx="2238375" cy="5572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b="0" sz="975" i="0" u="none">
                <a:solidFill>
                  <a:srgbClr val="9A93B8"/>
                </a:solidFill>
                <a:latin typeface="Lato"/>
              </a:rPr>
              <a:t>Replace the id-only gate with a password or SSO check — today, any valid id opens the account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52937" y="1975395"/>
            <a:ext cx="476250" cy="4762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515915" y="2642145"/>
            <a:ext cx="2350293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241F3D"/>
                </a:solidFill>
                <a:latin typeface="Merriweather"/>
              </a:rPr>
              <a:t>Source-level data quality fixes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71875" y="3166020"/>
            <a:ext cx="2238375" cy="742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b="0" sz="975" i="0" u="none">
                <a:solidFill>
                  <a:srgbClr val="9A93B8"/>
                </a:solidFill>
                <a:latin typeface="Lato"/>
              </a:rPr>
              <a:t>Correct FACT_BUDGET.ACTUAL_SPEND and PERIOD_DATE_KEY at the mart layer, not just in the app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62812" y="1975395"/>
            <a:ext cx="476250" cy="4762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485810" y="2642145"/>
            <a:ext cx="2030253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241F3D"/>
                </a:solidFill>
                <a:latin typeface="Merriweather"/>
              </a:rPr>
              <a:t>Broader assistant tool use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1750" y="2975520"/>
            <a:ext cx="2238375" cy="5572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b="0" sz="975" i="0" u="none">
                <a:solidFill>
                  <a:srgbClr val="9A93B8"/>
                </a:solidFill>
                <a:latin typeface="Lato"/>
              </a:rPr>
              <a:t>Extend the guarded SQL layer to comparisons across months and simple forecasts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72687" y="1975395"/>
            <a:ext cx="476250" cy="4762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345691" y="2642145"/>
            <a:ext cx="1930241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241F3D"/>
                </a:solidFill>
                <a:latin typeface="Merriweather"/>
              </a:rPr>
              <a:t>Cross-account resilience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91625" y="2975520"/>
            <a:ext cx="2238375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b="0" sz="975" i="0" u="none">
                <a:solidFill>
                  <a:srgbClr val="9A93B8"/>
                </a:solidFill>
                <a:latin typeface="Lato"/>
              </a:rPr>
              <a:t>Evaluate Snowflake replication for disaster recovery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85937" y="2118270"/>
            <a:ext cx="190500" cy="1905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95812" y="2118270"/>
            <a:ext cx="190500" cy="1905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15212" y="2118270"/>
            <a:ext cx="171450" cy="1905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191750" y="2118270"/>
            <a:ext cx="238125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970734" y="2733675"/>
            <a:ext cx="4250531" cy="962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6000" i="0" u="none">
                <a:solidFill>
                  <a:srgbClr val="FFFFFF"/>
                </a:solidFill>
                <a:latin typeface="Merriweather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65671" y="3886200"/>
            <a:ext cx="5260657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2400" i="1" u="none">
                <a:solidFill>
                  <a:srgbClr val="F2A03D"/>
                </a:solidFill>
                <a:latin typeface="Merriweather"/>
              </a:rPr>
              <a:t>WealthWizard — questions welcome</a:t>
            </a:r>
          </a:p>
        </p:txBody>
      </p:sp>
      <p:sp>
        <p:nvSpPr>
          <p:cNvPr id="5" name="Rectangle 4"/>
          <p:cNvSpPr/>
          <p:nvPr/>
        </p:nvSpPr>
        <p:spPr>
          <a:xfrm>
            <a:off x="5381625" y="4648200"/>
            <a:ext cx="1428750" cy="28575"/>
          </a:xfrm>
          <a:prstGeom prst="rect">
            <a:avLst/>
          </a:prstGeom>
          <a:solidFill>
            <a:srgbClr val="F2A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0" y="5057775"/>
            <a:ext cx="152400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b="0" sz="1350" i="0" u="none">
                <a:solidFill>
                  <a:srgbClr val="9A93B8"/>
                </a:solidFill>
                <a:latin typeface="Lato"/>
              </a:rPr>
              <a:t>Team WealthWizard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571500"/>
            <a:ext cx="3905250" cy="9525"/>
          </a:xfrm>
          <a:prstGeom prst="rect">
            <a:avLst/>
          </a:prstGeom>
          <a:solidFill>
            <a:srgbClr val="2A2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914400"/>
            <a:ext cx="3905250" cy="9525"/>
          </a:xfrm>
          <a:prstGeom prst="rect">
            <a:avLst/>
          </a:prstGeom>
          <a:solidFill>
            <a:srgbClr val="2A2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1500" y="1257300"/>
            <a:ext cx="3905250" cy="9525"/>
          </a:xfrm>
          <a:prstGeom prst="rect">
            <a:avLst/>
          </a:prstGeom>
          <a:solidFill>
            <a:srgbClr val="2A2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1500" y="1600200"/>
            <a:ext cx="3905250" cy="9525"/>
          </a:xfrm>
          <a:prstGeom prst="rect">
            <a:avLst/>
          </a:prstGeom>
          <a:solidFill>
            <a:srgbClr val="2A2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1500" y="1943100"/>
            <a:ext cx="3905250" cy="9525"/>
          </a:xfrm>
          <a:prstGeom prst="rect">
            <a:avLst/>
          </a:prstGeom>
          <a:solidFill>
            <a:srgbClr val="2A2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1500" y="2286000"/>
            <a:ext cx="3905250" cy="9525"/>
          </a:xfrm>
          <a:prstGeom prst="rect">
            <a:avLst/>
          </a:prstGeom>
          <a:solidFill>
            <a:srgbClr val="2A2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1500" y="2628900"/>
            <a:ext cx="3905250" cy="9525"/>
          </a:xfrm>
          <a:prstGeom prst="rect">
            <a:avLst/>
          </a:prstGeom>
          <a:solidFill>
            <a:srgbClr val="2A2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71500" y="2971800"/>
            <a:ext cx="3905250" cy="9525"/>
          </a:xfrm>
          <a:prstGeom prst="rect">
            <a:avLst/>
          </a:prstGeom>
          <a:solidFill>
            <a:srgbClr val="2A2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71500" y="3314700"/>
            <a:ext cx="3905250" cy="9525"/>
          </a:xfrm>
          <a:prstGeom prst="rect">
            <a:avLst/>
          </a:prstGeom>
          <a:solidFill>
            <a:srgbClr val="2A2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71500" y="3657600"/>
            <a:ext cx="3905250" cy="9525"/>
          </a:xfrm>
          <a:prstGeom prst="rect">
            <a:avLst/>
          </a:prstGeom>
          <a:solidFill>
            <a:srgbClr val="2A2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1500" y="4000500"/>
            <a:ext cx="3905250" cy="9525"/>
          </a:xfrm>
          <a:prstGeom prst="rect">
            <a:avLst/>
          </a:prstGeom>
          <a:solidFill>
            <a:srgbClr val="2A2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71500" y="4343400"/>
            <a:ext cx="3905250" cy="9525"/>
          </a:xfrm>
          <a:prstGeom prst="rect">
            <a:avLst/>
          </a:prstGeom>
          <a:solidFill>
            <a:srgbClr val="2A2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71500" y="4686300"/>
            <a:ext cx="3905250" cy="9525"/>
          </a:xfrm>
          <a:prstGeom prst="rect">
            <a:avLst/>
          </a:prstGeom>
          <a:solidFill>
            <a:srgbClr val="2A2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71500" y="5029200"/>
            <a:ext cx="3905250" cy="9525"/>
          </a:xfrm>
          <a:prstGeom prst="rect">
            <a:avLst/>
          </a:prstGeom>
          <a:solidFill>
            <a:srgbClr val="2A2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3112" y="1662112"/>
            <a:ext cx="485775" cy="42862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9750" y="1400175"/>
            <a:ext cx="952500" cy="952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